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nter" panose="02010600030101010101" charset="0"/>
      <p:regular r:id="rId1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138" y="4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4319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161818"/>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Real-Time Voice-Guided Grasping System</a:t>
            </a:r>
            <a:endParaRPr lang="en-US" sz="4450" dirty="0"/>
          </a:p>
        </p:txBody>
      </p:sp>
      <p:sp>
        <p:nvSpPr>
          <p:cNvPr id="4" name="Text 1"/>
          <p:cNvSpPr/>
          <p:nvPr/>
        </p:nvSpPr>
        <p:spPr>
          <a:xfrm>
            <a:off x="793790" y="3919538"/>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 multimodal assistive vision framework for users with visual impairments—integrating object detection, hand tracking, and depth estimation to guide users through everyday grasping tasks in real time via voice.</a:t>
            </a:r>
            <a:endParaRPr lang="en-US" sz="1750" dirty="0"/>
          </a:p>
        </p:txBody>
      </p:sp>
      <p:sp>
        <p:nvSpPr>
          <p:cNvPr id="5" name="Shape 2"/>
          <p:cNvSpPr/>
          <p:nvPr/>
        </p:nvSpPr>
        <p:spPr>
          <a:xfrm>
            <a:off x="793790" y="5633918"/>
            <a:ext cx="1965722" cy="426244"/>
          </a:xfrm>
          <a:prstGeom prst="roundRect">
            <a:avLst>
              <a:gd name="adj" fmla="val 17880"/>
            </a:avLst>
          </a:prstGeom>
          <a:solidFill>
            <a:srgbClr val="DADBF1"/>
          </a:solidFill>
          <a:ln/>
        </p:spPr>
        <p:txBody>
          <a:bodyPr/>
          <a:lstStyle/>
          <a:p>
            <a:endParaRPr lang="zh-CN" altLang="en-US"/>
          </a:p>
        </p:txBody>
      </p:sp>
      <p:sp>
        <p:nvSpPr>
          <p:cNvPr id="6" name="Text 3"/>
          <p:cNvSpPr/>
          <p:nvPr/>
        </p:nvSpPr>
        <p:spPr>
          <a:xfrm>
            <a:off x="929878" y="5701903"/>
            <a:ext cx="1693545"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COMPUTER VISION</a:t>
            </a:r>
            <a:endParaRPr lang="en-US" sz="1400" dirty="0"/>
          </a:p>
        </p:txBody>
      </p:sp>
      <p:sp>
        <p:nvSpPr>
          <p:cNvPr id="7" name="Shape 4"/>
          <p:cNvSpPr/>
          <p:nvPr/>
        </p:nvSpPr>
        <p:spPr>
          <a:xfrm>
            <a:off x="2872859" y="5626298"/>
            <a:ext cx="2519124" cy="441484"/>
          </a:xfrm>
          <a:prstGeom prst="roundRect">
            <a:avLst>
              <a:gd name="adj" fmla="val 17263"/>
            </a:avLst>
          </a:prstGeom>
          <a:noFill/>
          <a:ln w="7620">
            <a:solidFill>
              <a:srgbClr val="4950BC"/>
            </a:solidFill>
            <a:prstDash val="solid"/>
          </a:ln>
        </p:spPr>
        <p:txBody>
          <a:bodyPr/>
          <a:lstStyle/>
          <a:p>
            <a:endParaRPr lang="zh-CN" altLang="en-US"/>
          </a:p>
        </p:txBody>
      </p:sp>
      <p:sp>
        <p:nvSpPr>
          <p:cNvPr id="8" name="Text 5"/>
          <p:cNvSpPr/>
          <p:nvPr/>
        </p:nvSpPr>
        <p:spPr>
          <a:xfrm>
            <a:off x="3016568" y="5701903"/>
            <a:ext cx="2231708" cy="290274"/>
          </a:xfrm>
          <a:prstGeom prst="rect">
            <a:avLst/>
          </a:prstGeom>
          <a:noFill/>
          <a:ln/>
        </p:spPr>
        <p:txBody>
          <a:bodyPr wrap="none" lIns="0" tIns="0" rIns="0" bIns="0" rtlCol="0" anchor="t"/>
          <a:lstStyle/>
          <a:p>
            <a:pPr marL="0" indent="0" algn="l">
              <a:lnSpc>
                <a:spcPts val="2250"/>
              </a:lnSpc>
              <a:buNone/>
            </a:pPr>
            <a:r>
              <a:rPr lang="en-US" sz="1400" dirty="0">
                <a:solidFill>
                  <a:srgbClr val="4950BC"/>
                </a:solidFill>
                <a:latin typeface="Inter" pitchFamily="34" charset="0"/>
                <a:ea typeface="Inter" pitchFamily="34" charset="-122"/>
                <a:cs typeface="Inter" pitchFamily="34" charset="-120"/>
              </a:rPr>
              <a:t>ASSISTIVE TECHNOLOGY</a:t>
            </a:r>
            <a:endParaRPr lang="en-US" sz="1400" dirty="0"/>
          </a:p>
        </p:txBody>
      </p:sp>
      <p:sp>
        <p:nvSpPr>
          <p:cNvPr id="9" name="Shape 6"/>
          <p:cNvSpPr/>
          <p:nvPr/>
        </p:nvSpPr>
        <p:spPr>
          <a:xfrm>
            <a:off x="5505331" y="5626298"/>
            <a:ext cx="2403872" cy="441484"/>
          </a:xfrm>
          <a:prstGeom prst="roundRect">
            <a:avLst>
              <a:gd name="adj" fmla="val 17263"/>
            </a:avLst>
          </a:prstGeom>
          <a:noFill/>
          <a:ln w="7620">
            <a:solidFill>
              <a:srgbClr val="4950BC"/>
            </a:solidFill>
            <a:prstDash val="solid"/>
          </a:ln>
        </p:spPr>
        <p:txBody>
          <a:bodyPr/>
          <a:lstStyle/>
          <a:p>
            <a:endParaRPr lang="zh-CN" altLang="en-US"/>
          </a:p>
        </p:txBody>
      </p:sp>
      <p:sp>
        <p:nvSpPr>
          <p:cNvPr id="10" name="Text 7"/>
          <p:cNvSpPr/>
          <p:nvPr/>
        </p:nvSpPr>
        <p:spPr>
          <a:xfrm>
            <a:off x="5649039" y="5701903"/>
            <a:ext cx="2116455" cy="290274"/>
          </a:xfrm>
          <a:prstGeom prst="rect">
            <a:avLst/>
          </a:prstGeom>
          <a:noFill/>
          <a:ln/>
        </p:spPr>
        <p:txBody>
          <a:bodyPr wrap="none" lIns="0" tIns="0" rIns="0" bIns="0" rtlCol="0" anchor="t"/>
          <a:lstStyle/>
          <a:p>
            <a:pPr marL="0" indent="0" algn="l">
              <a:lnSpc>
                <a:spcPts val="2250"/>
              </a:lnSpc>
              <a:buNone/>
            </a:pPr>
            <a:r>
              <a:rPr lang="en-US" sz="1400" dirty="0">
                <a:solidFill>
                  <a:srgbClr val="4950BC"/>
                </a:solidFill>
                <a:latin typeface="Inter" pitchFamily="34" charset="0"/>
                <a:ea typeface="Inter" pitchFamily="34" charset="-122"/>
                <a:cs typeface="Inter" pitchFamily="34" charset="-120"/>
              </a:rPr>
              <a:t>MULTIMODAL SYSTEMS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105376" y="988933"/>
            <a:ext cx="10031135" cy="562332"/>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Inter Bold" pitchFamily="34" charset="0"/>
                <a:ea typeface="Inter Bold" pitchFamily="34" charset="-122"/>
                <a:cs typeface="Inter Bold" pitchFamily="34" charset="-120"/>
              </a:rPr>
              <a:t>Research Background and Core Contributions</a:t>
            </a:r>
            <a:endParaRPr lang="en-US" sz="3500" dirty="0"/>
          </a:p>
        </p:txBody>
      </p:sp>
      <p:sp>
        <p:nvSpPr>
          <p:cNvPr id="3" name="Shape 1"/>
          <p:cNvSpPr/>
          <p:nvPr/>
        </p:nvSpPr>
        <p:spPr>
          <a:xfrm>
            <a:off x="975717" y="1765459"/>
            <a:ext cx="6249591" cy="5475089"/>
          </a:xfrm>
          <a:prstGeom prst="roundRect">
            <a:avLst>
              <a:gd name="adj" fmla="val 2367"/>
            </a:avLst>
          </a:prstGeom>
          <a:solidFill>
            <a:srgbClr val="1E1E1A"/>
          </a:solidFill>
          <a:ln/>
        </p:spPr>
        <p:txBody>
          <a:bodyPr/>
          <a:lstStyle/>
          <a:p>
            <a:endParaRPr lang="zh-CN" altLang="en-US"/>
          </a:p>
        </p:txBody>
      </p:sp>
      <p:sp>
        <p:nvSpPr>
          <p:cNvPr id="4" name="Text 2"/>
          <p:cNvSpPr/>
          <p:nvPr/>
        </p:nvSpPr>
        <p:spPr>
          <a:xfrm>
            <a:off x="1155621" y="1908215"/>
            <a:ext cx="2249924" cy="281226"/>
          </a:xfrm>
          <a:prstGeom prst="rect">
            <a:avLst/>
          </a:prstGeom>
          <a:noFill/>
          <a:ln/>
        </p:spPr>
        <p:txBody>
          <a:bodyPr wrap="none" lIns="0" tIns="0" rIns="0" bIns="0" rtlCol="0" anchor="t"/>
          <a:lstStyle/>
          <a:p>
            <a:pPr marL="0" indent="0" algn="l">
              <a:lnSpc>
                <a:spcPts val="2200"/>
              </a:lnSpc>
              <a:buNone/>
            </a:pPr>
            <a:r>
              <a:rPr lang="en-US" sz="1750" b="1" dirty="0">
                <a:solidFill>
                  <a:srgbClr val="FFFFFF"/>
                </a:solidFill>
                <a:latin typeface="Inter Bold" pitchFamily="34" charset="0"/>
                <a:ea typeface="Inter Bold" pitchFamily="34" charset="-122"/>
                <a:cs typeface="Inter Bold" pitchFamily="34" charset="-120"/>
              </a:rPr>
              <a:t>Problem Statement</a:t>
            </a:r>
            <a:endParaRPr lang="en-US" sz="1750" dirty="0"/>
          </a:p>
        </p:txBody>
      </p:sp>
      <p:sp>
        <p:nvSpPr>
          <p:cNvPr id="5" name="Text 3"/>
          <p:cNvSpPr/>
          <p:nvPr/>
        </p:nvSpPr>
        <p:spPr>
          <a:xfrm>
            <a:off x="1155621" y="2332196"/>
            <a:ext cx="5889784" cy="1291233"/>
          </a:xfrm>
          <a:prstGeom prst="rect">
            <a:avLst/>
          </a:prstGeom>
          <a:noFill/>
          <a:ln/>
        </p:spPr>
        <p:txBody>
          <a:bodyPr wrap="square" lIns="0" tIns="0" rIns="0" bIns="0" rtlCol="0" anchor="t"/>
          <a:lstStyle/>
          <a:p>
            <a:pPr marL="0" indent="0" algn="l">
              <a:lnSpc>
                <a:spcPts val="2000"/>
              </a:lnSpc>
              <a:buNone/>
            </a:pPr>
            <a:r>
              <a:rPr lang="en-US" sz="1400" dirty="0">
                <a:solidFill>
                  <a:srgbClr val="FFFFFF"/>
                </a:solidFill>
                <a:latin typeface="Inter" pitchFamily="34" charset="0"/>
                <a:ea typeface="Inter" pitchFamily="34" charset="-122"/>
                <a:cs typeface="Inter" pitchFamily="34" charset="-120"/>
              </a:rPr>
              <a:t>Existing assistive vision systems mainly focus on scene description and lack the ability to translate high-level semantics into fine-grained motion guidance. This system focuses on: detecting target objects → tracking the user's hand → estimating spatial relationships → generating real-time voice instructions.</a:t>
            </a:r>
            <a:endParaRPr lang="en-US" sz="1400" dirty="0"/>
          </a:p>
        </p:txBody>
      </p:sp>
      <p:sp>
        <p:nvSpPr>
          <p:cNvPr id="6" name="Text 4"/>
          <p:cNvSpPr/>
          <p:nvPr/>
        </p:nvSpPr>
        <p:spPr>
          <a:xfrm>
            <a:off x="7542371" y="1908215"/>
            <a:ext cx="2784396" cy="281226"/>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Inter Bold" pitchFamily="34" charset="0"/>
                <a:ea typeface="Inter Bold" pitchFamily="34" charset="-122"/>
                <a:cs typeface="Inter Bold" pitchFamily="34" charset="-120"/>
              </a:rPr>
              <a:t>Three Core Contributions</a:t>
            </a:r>
            <a:endParaRPr lang="en-US" sz="17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9880" y="2355592"/>
            <a:ext cx="269915" cy="269915"/>
          </a:xfrm>
          <a:prstGeom prst="rect">
            <a:avLst/>
          </a:prstGeom>
        </p:spPr>
      </p:pic>
      <p:sp>
        <p:nvSpPr>
          <p:cNvPr id="8" name="Text 5"/>
          <p:cNvSpPr/>
          <p:nvPr/>
        </p:nvSpPr>
        <p:spPr>
          <a:xfrm>
            <a:off x="8127206" y="2350056"/>
            <a:ext cx="5405438" cy="562451"/>
          </a:xfrm>
          <a:prstGeom prst="rect">
            <a:avLst/>
          </a:prstGeom>
          <a:noFill/>
          <a:ln/>
        </p:spPr>
        <p:txBody>
          <a:bodyPr wrap="squar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Multi-backend hot-swapping evaluation framework</a:t>
            </a:r>
            <a:endParaRPr lang="en-US" sz="1750" dirty="0"/>
          </a:p>
        </p:txBody>
      </p:sp>
      <p:sp>
        <p:nvSpPr>
          <p:cNvPr id="9" name="Text 6"/>
          <p:cNvSpPr/>
          <p:nvPr/>
        </p:nvSpPr>
        <p:spPr>
          <a:xfrm>
            <a:off x="8127206" y="3055263"/>
            <a:ext cx="5405438" cy="774740"/>
          </a:xfrm>
          <a:prstGeom prst="rect">
            <a:avLst/>
          </a:prstGeom>
          <a:noFill/>
          <a:ln/>
        </p:spPr>
        <p:txBody>
          <a:bodyPr wrap="squar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All three perception modules support runtime keyboard switching (keys 1/2/3), allowing direct algorithm comparison without restarting.</a:t>
            </a:r>
            <a:endParaRPr lang="en-US" sz="14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9880" y="4121170"/>
            <a:ext cx="269915" cy="269915"/>
          </a:xfrm>
          <a:prstGeom prst="rect">
            <a:avLst/>
          </a:prstGeom>
        </p:spPr>
      </p:pic>
      <p:sp>
        <p:nvSpPr>
          <p:cNvPr id="11" name="Text 7"/>
          <p:cNvSpPr/>
          <p:nvPr/>
        </p:nvSpPr>
        <p:spPr>
          <a:xfrm>
            <a:off x="8127206" y="4115633"/>
            <a:ext cx="5405438" cy="562451"/>
          </a:xfrm>
          <a:prstGeom prst="rect">
            <a:avLst/>
          </a:prstGeom>
          <a:noFill/>
          <a:ln/>
        </p:spPr>
        <p:txBody>
          <a:bodyPr wrap="squar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Automatic camera calibration based on detected objects</a:t>
            </a:r>
            <a:endParaRPr lang="en-US" sz="1750" dirty="0"/>
          </a:p>
        </p:txBody>
      </p:sp>
      <p:sp>
        <p:nvSpPr>
          <p:cNvPr id="12" name="Text 8"/>
          <p:cNvSpPr/>
          <p:nvPr/>
        </p:nvSpPr>
        <p:spPr>
          <a:xfrm>
            <a:off x="8127206" y="4820841"/>
            <a:ext cx="5405438" cy="774740"/>
          </a:xfrm>
          <a:prstGeom prst="rect">
            <a:avLst/>
          </a:prstGeom>
          <a:noFill/>
          <a:ln/>
        </p:spPr>
        <p:txBody>
          <a:bodyPr wrap="squar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Dynamically infer the pixel-to-centimeter ratio from objects with known dimensions (e.g., A4 paper = 21cm), without manual calibration.</a:t>
            </a:r>
            <a:endParaRPr lang="en-US" sz="14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9880" y="5886748"/>
            <a:ext cx="269915" cy="269915"/>
          </a:xfrm>
          <a:prstGeom prst="rect">
            <a:avLst/>
          </a:prstGeom>
        </p:spPr>
      </p:pic>
      <p:sp>
        <p:nvSpPr>
          <p:cNvPr id="14" name="Text 9"/>
          <p:cNvSpPr/>
          <p:nvPr/>
        </p:nvSpPr>
        <p:spPr>
          <a:xfrm>
            <a:off x="8127206" y="5881211"/>
            <a:ext cx="5363289" cy="281226"/>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End-to-end multimodal voice interaction pipeline</a:t>
            </a:r>
            <a:endParaRPr lang="en-US" sz="1750" dirty="0"/>
          </a:p>
        </p:txBody>
      </p:sp>
      <p:sp>
        <p:nvSpPr>
          <p:cNvPr id="15" name="Text 10"/>
          <p:cNvSpPr/>
          <p:nvPr/>
        </p:nvSpPr>
        <p:spPr>
          <a:xfrm>
            <a:off x="8127206" y="6305193"/>
            <a:ext cx="5405438" cy="774740"/>
          </a:xfrm>
          <a:prstGeom prst="rect">
            <a:avLst/>
          </a:prstGeom>
          <a:noFill/>
          <a:ln/>
        </p:spPr>
        <p:txBody>
          <a:bodyPr wrap="squar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Integrates Whisper speech recognition, rule-based NLU, and TTS output, with a 1.2-second cooldown mechanism to prevent repeated announcements.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53751" y="453833"/>
            <a:ext cx="847510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System Architecture Overview</a:t>
            </a:r>
            <a:endParaRPr lang="en-US" sz="4450" dirty="0"/>
          </a:p>
        </p:txBody>
      </p:sp>
      <p:sp>
        <p:nvSpPr>
          <p:cNvPr id="4" name="Text 1"/>
          <p:cNvSpPr/>
          <p:nvPr/>
        </p:nvSpPr>
        <p:spPr>
          <a:xfrm>
            <a:off x="703849" y="6324434"/>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Each frame of image data is processed by three parallel perception modules before merging into the benchmark recorder, while the voice interaction layer responds asynchronously to user queries, enabling decoupled operation between scene perception and voice guidance. Each module is encapsulated with an abstract base class, supporting factory function instantiation and runtime hot swapping.</a:t>
            </a:r>
            <a:endParaRPr lang="en-US" sz="1750" dirty="0"/>
          </a:p>
        </p:txBody>
      </p:sp>
      <p:pic>
        <p:nvPicPr>
          <p:cNvPr id="7" name="图片 6">
            <a:extLst>
              <a:ext uri="{FF2B5EF4-FFF2-40B4-BE49-F238E27FC236}">
                <a16:creationId xmlns:a16="http://schemas.microsoft.com/office/drawing/2014/main" id="{8C8D1E18-56CE-943C-35D3-9FE1A874538B}"/>
              </a:ext>
            </a:extLst>
          </p:cNvPr>
          <p:cNvPicPr>
            <a:picLocks noChangeAspect="1"/>
          </p:cNvPicPr>
          <p:nvPr/>
        </p:nvPicPr>
        <p:blipFill>
          <a:blip r:embed="rId3"/>
          <a:stretch>
            <a:fillRect/>
          </a:stretch>
        </p:blipFill>
        <p:spPr>
          <a:xfrm>
            <a:off x="2588911" y="1291485"/>
            <a:ext cx="8983496" cy="49040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04493" y="881777"/>
            <a:ext cx="5032296" cy="629007"/>
          </a:xfrm>
          <a:prstGeom prst="rect">
            <a:avLst/>
          </a:prstGeom>
          <a:noFill/>
          <a:ln/>
        </p:spPr>
        <p:txBody>
          <a:bodyPr wrap="none" lIns="0" tIns="0" rIns="0" bIns="0" rtlCol="0" anchor="t"/>
          <a:lstStyle/>
          <a:p>
            <a:pPr marL="0" indent="0" algn="l">
              <a:lnSpc>
                <a:spcPts val="4950"/>
              </a:lnSpc>
              <a:buNone/>
            </a:pPr>
            <a:r>
              <a:rPr lang="en-US" sz="3950" b="1" dirty="0">
                <a:solidFill>
                  <a:srgbClr val="000000"/>
                </a:solidFill>
                <a:latin typeface="Inter Bold" pitchFamily="34" charset="0"/>
                <a:ea typeface="Inter Bold" pitchFamily="34" charset="-122"/>
                <a:cs typeface="Inter Bold" pitchFamily="34" charset="-120"/>
              </a:rPr>
              <a:t>Data Preparation</a:t>
            </a:r>
            <a:endParaRPr lang="en-US" sz="3950" dirty="0"/>
          </a:p>
        </p:txBody>
      </p:sp>
      <p:sp>
        <p:nvSpPr>
          <p:cNvPr id="3" name="Text 1"/>
          <p:cNvSpPr/>
          <p:nvPr/>
        </p:nvSpPr>
        <p:spPr>
          <a:xfrm>
            <a:off x="704493" y="1957268"/>
            <a:ext cx="4651177" cy="314444"/>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Inter Bold" pitchFamily="34" charset="0"/>
                <a:ea typeface="Inter Bold" pitchFamily="34" charset="-122"/>
                <a:cs typeface="Inter Bold" pitchFamily="34" charset="-120"/>
              </a:rPr>
              <a:t>Target Classes and Pretrained Models</a:t>
            </a:r>
            <a:endParaRPr lang="en-US" sz="1950" dirty="0"/>
          </a:p>
        </p:txBody>
      </p:sp>
      <p:sp>
        <p:nvSpPr>
          <p:cNvPr id="4" name="Text 2"/>
          <p:cNvSpPr/>
          <p:nvPr/>
        </p:nvSpPr>
        <p:spPr>
          <a:xfrm>
            <a:off x="704493" y="2450306"/>
            <a:ext cx="6365200" cy="1215866"/>
          </a:xfrm>
          <a:prstGeom prst="rect">
            <a:avLst/>
          </a:prstGeom>
          <a:noFill/>
          <a:ln/>
        </p:spPr>
        <p:txBody>
          <a:bodyPr wrap="squar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The system is limited to four COCO household object classes: </a:t>
            </a:r>
            <a:r>
              <a:rPr lang="en-US" sz="1550" b="1" dirty="0">
                <a:solidFill>
                  <a:srgbClr val="272525"/>
                </a:solidFill>
                <a:latin typeface="Inter" pitchFamily="34" charset="0"/>
                <a:ea typeface="Inter" pitchFamily="34" charset="-122"/>
                <a:cs typeface="Inter" pitchFamily="34" charset="-120"/>
              </a:rPr>
              <a:t>pen, paper, cup, mobile phone</a:t>
            </a:r>
            <a:r>
              <a:rPr lang="en-US" sz="1550" dirty="0">
                <a:solidFill>
                  <a:srgbClr val="272525"/>
                </a:solidFill>
                <a:latin typeface="Inter" pitchFamily="34" charset="0"/>
                <a:ea typeface="Inter" pitchFamily="34" charset="-122"/>
                <a:cs typeface="Inter" pitchFamily="34" charset="-120"/>
              </a:rPr>
              <a:t>. All YOLO and SSD models use COCO 2017 offline pretrained weights, while MiDaS and MediaPipe use officially released weights and require no fine-tuning.</a:t>
            </a:r>
            <a:endParaRPr lang="en-US" sz="1550" dirty="0"/>
          </a:p>
        </p:txBody>
      </p:sp>
      <p:sp>
        <p:nvSpPr>
          <p:cNvPr id="5" name="Text 3"/>
          <p:cNvSpPr/>
          <p:nvPr/>
        </p:nvSpPr>
        <p:spPr>
          <a:xfrm>
            <a:off x="704493" y="3844766"/>
            <a:ext cx="3879056" cy="314444"/>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Inter Bold" pitchFamily="34" charset="0"/>
                <a:ea typeface="Inter Bold" pitchFamily="34" charset="-122"/>
                <a:cs typeface="Inter Bold" pitchFamily="34" charset="-120"/>
              </a:rPr>
              <a:t>Runtime Calibration References</a:t>
            </a:r>
            <a:endParaRPr lang="en-US" sz="1950" dirty="0"/>
          </a:p>
        </p:txBody>
      </p:sp>
      <p:sp>
        <p:nvSpPr>
          <p:cNvPr id="6" name="Shape 4"/>
          <p:cNvSpPr/>
          <p:nvPr/>
        </p:nvSpPr>
        <p:spPr>
          <a:xfrm>
            <a:off x="704493" y="4360069"/>
            <a:ext cx="6365200" cy="2682835"/>
          </a:xfrm>
          <a:prstGeom prst="roundRect">
            <a:avLst>
              <a:gd name="adj" fmla="val 3151"/>
            </a:avLst>
          </a:prstGeom>
          <a:noFill/>
          <a:ln w="7620">
            <a:solidFill>
              <a:srgbClr val="000000">
                <a:alpha val="8000"/>
              </a:srgbClr>
            </a:solidFill>
            <a:prstDash val="solid"/>
          </a:ln>
        </p:spPr>
        <p:txBody>
          <a:bodyPr/>
          <a:lstStyle/>
          <a:p>
            <a:endParaRPr lang="zh-CN" altLang="en-US"/>
          </a:p>
        </p:txBody>
      </p:sp>
      <p:sp>
        <p:nvSpPr>
          <p:cNvPr id="7" name="Shape 5"/>
          <p:cNvSpPr/>
          <p:nvPr/>
        </p:nvSpPr>
        <p:spPr>
          <a:xfrm>
            <a:off x="712113" y="4367689"/>
            <a:ext cx="6349960" cy="533519"/>
          </a:xfrm>
          <a:prstGeom prst="rect">
            <a:avLst/>
          </a:prstGeom>
          <a:solidFill>
            <a:srgbClr val="FFFFFF">
              <a:alpha val="4000"/>
            </a:srgbClr>
          </a:solidFill>
          <a:ln/>
        </p:spPr>
        <p:txBody>
          <a:bodyPr/>
          <a:lstStyle/>
          <a:p>
            <a:endParaRPr lang="zh-CN" altLang="en-US"/>
          </a:p>
        </p:txBody>
      </p:sp>
      <p:sp>
        <p:nvSpPr>
          <p:cNvPr id="8" name="Text 6"/>
          <p:cNvSpPr/>
          <p:nvPr/>
        </p:nvSpPr>
        <p:spPr>
          <a:xfrm>
            <a:off x="913448" y="4482465"/>
            <a:ext cx="2768679" cy="303967"/>
          </a:xfrm>
          <a:prstGeom prst="rect">
            <a:avLst/>
          </a:prstGeom>
          <a:noFill/>
          <a:ln/>
        </p:spPr>
        <p:txBody>
          <a:bodyPr wrap="none" lIns="0" tIns="0" rIns="0" bIns="0" rtlCol="0" anchor="t"/>
          <a:lstStyle/>
          <a:p>
            <a:pPr marL="0" indent="0" algn="l">
              <a:lnSpc>
                <a:spcPts val="2350"/>
              </a:lnSpc>
              <a:buNone/>
            </a:pPr>
            <a:r>
              <a:rPr lang="en-US" sz="1550" b="1" dirty="0">
                <a:solidFill>
                  <a:srgbClr val="272525"/>
                </a:solidFill>
                <a:latin typeface="Inter" pitchFamily="34" charset="0"/>
                <a:ea typeface="Inter" pitchFamily="34" charset="-122"/>
                <a:cs typeface="Inter" pitchFamily="34" charset="-120"/>
              </a:rPr>
              <a:t>Object</a:t>
            </a:r>
            <a:endParaRPr lang="en-US" sz="1550" dirty="0"/>
          </a:p>
        </p:txBody>
      </p:sp>
      <p:sp>
        <p:nvSpPr>
          <p:cNvPr id="9" name="Text 7"/>
          <p:cNvSpPr/>
          <p:nvPr/>
        </p:nvSpPr>
        <p:spPr>
          <a:xfrm>
            <a:off x="4092178" y="4482465"/>
            <a:ext cx="2768679" cy="303967"/>
          </a:xfrm>
          <a:prstGeom prst="rect">
            <a:avLst/>
          </a:prstGeom>
          <a:noFill/>
          <a:ln/>
        </p:spPr>
        <p:txBody>
          <a:bodyPr wrap="none" lIns="0" tIns="0" rIns="0" bIns="0" rtlCol="0" anchor="t"/>
          <a:lstStyle/>
          <a:p>
            <a:pPr marL="0" indent="0" algn="l">
              <a:lnSpc>
                <a:spcPts val="2350"/>
              </a:lnSpc>
              <a:buNone/>
            </a:pPr>
            <a:r>
              <a:rPr lang="en-US" sz="1550" b="1" dirty="0">
                <a:solidFill>
                  <a:srgbClr val="272525"/>
                </a:solidFill>
                <a:latin typeface="Inter" pitchFamily="34" charset="0"/>
                <a:ea typeface="Inter" pitchFamily="34" charset="-122"/>
                <a:cs typeface="Inter" pitchFamily="34" charset="-120"/>
              </a:rPr>
              <a:t>Known Width (cm)</a:t>
            </a:r>
            <a:endParaRPr lang="en-US" sz="1550" dirty="0"/>
          </a:p>
        </p:txBody>
      </p:sp>
      <p:sp>
        <p:nvSpPr>
          <p:cNvPr id="10" name="Shape 8"/>
          <p:cNvSpPr/>
          <p:nvPr/>
        </p:nvSpPr>
        <p:spPr>
          <a:xfrm>
            <a:off x="712113" y="4901208"/>
            <a:ext cx="6349960" cy="533519"/>
          </a:xfrm>
          <a:prstGeom prst="rect">
            <a:avLst/>
          </a:prstGeom>
          <a:solidFill>
            <a:srgbClr val="000000">
              <a:alpha val="4000"/>
            </a:srgbClr>
          </a:solidFill>
          <a:ln/>
        </p:spPr>
        <p:txBody>
          <a:bodyPr/>
          <a:lstStyle/>
          <a:p>
            <a:endParaRPr lang="zh-CN" altLang="en-US"/>
          </a:p>
        </p:txBody>
      </p:sp>
      <p:sp>
        <p:nvSpPr>
          <p:cNvPr id="11" name="Text 9"/>
          <p:cNvSpPr/>
          <p:nvPr/>
        </p:nvSpPr>
        <p:spPr>
          <a:xfrm>
            <a:off x="913448" y="5015984"/>
            <a:ext cx="2768679"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Cup</a:t>
            </a:r>
            <a:endParaRPr lang="en-US" sz="1550" dirty="0"/>
          </a:p>
        </p:txBody>
      </p:sp>
      <p:sp>
        <p:nvSpPr>
          <p:cNvPr id="12" name="Text 10"/>
          <p:cNvSpPr/>
          <p:nvPr/>
        </p:nvSpPr>
        <p:spPr>
          <a:xfrm>
            <a:off x="4092178" y="5015984"/>
            <a:ext cx="2768679"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8.5</a:t>
            </a:r>
            <a:endParaRPr lang="en-US" sz="1550" dirty="0"/>
          </a:p>
        </p:txBody>
      </p:sp>
      <p:sp>
        <p:nvSpPr>
          <p:cNvPr id="13" name="Shape 11"/>
          <p:cNvSpPr/>
          <p:nvPr/>
        </p:nvSpPr>
        <p:spPr>
          <a:xfrm>
            <a:off x="712113" y="5434727"/>
            <a:ext cx="6349960" cy="533519"/>
          </a:xfrm>
          <a:prstGeom prst="rect">
            <a:avLst/>
          </a:prstGeom>
          <a:solidFill>
            <a:srgbClr val="FFFFFF">
              <a:alpha val="4000"/>
            </a:srgbClr>
          </a:solidFill>
          <a:ln/>
        </p:spPr>
        <p:txBody>
          <a:bodyPr/>
          <a:lstStyle/>
          <a:p>
            <a:endParaRPr lang="zh-CN" altLang="en-US"/>
          </a:p>
        </p:txBody>
      </p:sp>
      <p:sp>
        <p:nvSpPr>
          <p:cNvPr id="14" name="Text 12"/>
          <p:cNvSpPr/>
          <p:nvPr/>
        </p:nvSpPr>
        <p:spPr>
          <a:xfrm>
            <a:off x="913448" y="5549503"/>
            <a:ext cx="2768679"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Mobile phone</a:t>
            </a:r>
            <a:endParaRPr lang="en-US" sz="1550" dirty="0"/>
          </a:p>
        </p:txBody>
      </p:sp>
      <p:sp>
        <p:nvSpPr>
          <p:cNvPr id="15" name="Text 13"/>
          <p:cNvSpPr/>
          <p:nvPr/>
        </p:nvSpPr>
        <p:spPr>
          <a:xfrm>
            <a:off x="4092178" y="5549503"/>
            <a:ext cx="2768679"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7.2</a:t>
            </a:r>
            <a:endParaRPr lang="en-US" sz="1550" dirty="0"/>
          </a:p>
        </p:txBody>
      </p:sp>
      <p:sp>
        <p:nvSpPr>
          <p:cNvPr id="16" name="Shape 14"/>
          <p:cNvSpPr/>
          <p:nvPr/>
        </p:nvSpPr>
        <p:spPr>
          <a:xfrm>
            <a:off x="712113" y="5968246"/>
            <a:ext cx="6349960" cy="533519"/>
          </a:xfrm>
          <a:prstGeom prst="rect">
            <a:avLst/>
          </a:prstGeom>
          <a:solidFill>
            <a:srgbClr val="000000">
              <a:alpha val="4000"/>
            </a:srgbClr>
          </a:solidFill>
          <a:ln/>
        </p:spPr>
        <p:txBody>
          <a:bodyPr/>
          <a:lstStyle/>
          <a:p>
            <a:endParaRPr lang="zh-CN" altLang="en-US"/>
          </a:p>
        </p:txBody>
      </p:sp>
      <p:sp>
        <p:nvSpPr>
          <p:cNvPr id="17" name="Text 15"/>
          <p:cNvSpPr/>
          <p:nvPr/>
        </p:nvSpPr>
        <p:spPr>
          <a:xfrm>
            <a:off x="913448" y="6083022"/>
            <a:ext cx="2768679"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A4 paper</a:t>
            </a:r>
            <a:endParaRPr lang="en-US" sz="1550" dirty="0"/>
          </a:p>
        </p:txBody>
      </p:sp>
      <p:sp>
        <p:nvSpPr>
          <p:cNvPr id="18" name="Text 16"/>
          <p:cNvSpPr/>
          <p:nvPr/>
        </p:nvSpPr>
        <p:spPr>
          <a:xfrm>
            <a:off x="4092178" y="6083022"/>
            <a:ext cx="2768679"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21.0</a:t>
            </a:r>
            <a:endParaRPr lang="en-US" sz="1550" dirty="0"/>
          </a:p>
        </p:txBody>
      </p:sp>
      <p:sp>
        <p:nvSpPr>
          <p:cNvPr id="19" name="Shape 17"/>
          <p:cNvSpPr/>
          <p:nvPr/>
        </p:nvSpPr>
        <p:spPr>
          <a:xfrm>
            <a:off x="712113" y="6501765"/>
            <a:ext cx="6349960" cy="533519"/>
          </a:xfrm>
          <a:prstGeom prst="rect">
            <a:avLst/>
          </a:prstGeom>
          <a:solidFill>
            <a:srgbClr val="FFFFFF">
              <a:alpha val="4000"/>
            </a:srgbClr>
          </a:solidFill>
          <a:ln/>
        </p:spPr>
        <p:txBody>
          <a:bodyPr/>
          <a:lstStyle/>
          <a:p>
            <a:endParaRPr lang="zh-CN" altLang="en-US"/>
          </a:p>
        </p:txBody>
      </p:sp>
      <p:sp>
        <p:nvSpPr>
          <p:cNvPr id="20" name="Text 18"/>
          <p:cNvSpPr/>
          <p:nvPr/>
        </p:nvSpPr>
        <p:spPr>
          <a:xfrm>
            <a:off x="913448" y="6616541"/>
            <a:ext cx="2768679"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Other (default)</a:t>
            </a:r>
            <a:endParaRPr lang="en-US" sz="1550" dirty="0"/>
          </a:p>
        </p:txBody>
      </p:sp>
      <p:sp>
        <p:nvSpPr>
          <p:cNvPr id="21" name="Text 19"/>
          <p:cNvSpPr/>
          <p:nvPr/>
        </p:nvSpPr>
        <p:spPr>
          <a:xfrm>
            <a:off x="4092178" y="6616541"/>
            <a:ext cx="2768679"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≈0.18 cm/px</a:t>
            </a:r>
            <a:endParaRPr lang="en-US" sz="1550" dirty="0"/>
          </a:p>
        </p:txBody>
      </p:sp>
      <p:sp>
        <p:nvSpPr>
          <p:cNvPr id="22" name="Text 20"/>
          <p:cNvSpPr/>
          <p:nvPr/>
        </p:nvSpPr>
        <p:spPr>
          <a:xfrm>
            <a:off x="7568327" y="1957268"/>
            <a:ext cx="3337798" cy="314444"/>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Inter Bold" pitchFamily="34" charset="0"/>
                <a:ea typeface="Inter Bold" pitchFamily="34" charset="-122"/>
                <a:cs typeface="Inter Bold" pitchFamily="34" charset="-120"/>
              </a:rPr>
              <a:t>Benchmark Data Collection</a:t>
            </a:r>
            <a:endParaRPr lang="en-US" sz="1950" dirty="0"/>
          </a:p>
        </p:txBody>
      </p:sp>
      <p:sp>
        <p:nvSpPr>
          <p:cNvPr id="23" name="Shape 21"/>
          <p:cNvSpPr/>
          <p:nvPr/>
        </p:nvSpPr>
        <p:spPr>
          <a:xfrm>
            <a:off x="7568327" y="2472571"/>
            <a:ext cx="3093244" cy="1559600"/>
          </a:xfrm>
          <a:prstGeom prst="roundRect">
            <a:avLst>
              <a:gd name="adj" fmla="val 5421"/>
            </a:avLst>
          </a:prstGeom>
          <a:solidFill>
            <a:srgbClr val="FFFFFF"/>
          </a:solidFill>
          <a:ln w="22860">
            <a:solidFill>
              <a:srgbClr val="C0C1D7"/>
            </a:solidFill>
            <a:prstDash val="solid"/>
          </a:ln>
        </p:spPr>
        <p:txBody>
          <a:bodyPr/>
          <a:lstStyle/>
          <a:p>
            <a:endParaRPr lang="zh-CN" altLang="en-US"/>
          </a:p>
        </p:txBody>
      </p:sp>
      <p:sp>
        <p:nvSpPr>
          <p:cNvPr id="24" name="Text 22"/>
          <p:cNvSpPr/>
          <p:nvPr/>
        </p:nvSpPr>
        <p:spPr>
          <a:xfrm>
            <a:off x="7792403" y="2696647"/>
            <a:ext cx="2516148" cy="314444"/>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Detection Latency</a:t>
            </a:r>
            <a:endParaRPr lang="en-US" sz="1950" dirty="0"/>
          </a:p>
        </p:txBody>
      </p:sp>
      <p:sp>
        <p:nvSpPr>
          <p:cNvPr id="25" name="Text 23"/>
          <p:cNvSpPr/>
          <p:nvPr/>
        </p:nvSpPr>
        <p:spPr>
          <a:xfrm>
            <a:off x="7792403" y="3189684"/>
            <a:ext cx="2645093"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det_ms</a:t>
            </a:r>
            <a:endParaRPr lang="en-US" sz="1550" dirty="0"/>
          </a:p>
        </p:txBody>
      </p:sp>
      <p:sp>
        <p:nvSpPr>
          <p:cNvPr id="26" name="Shape 24"/>
          <p:cNvSpPr/>
          <p:nvPr/>
        </p:nvSpPr>
        <p:spPr>
          <a:xfrm>
            <a:off x="10840164" y="2472571"/>
            <a:ext cx="3093363" cy="1559600"/>
          </a:xfrm>
          <a:prstGeom prst="roundRect">
            <a:avLst>
              <a:gd name="adj" fmla="val 5421"/>
            </a:avLst>
          </a:prstGeom>
          <a:solidFill>
            <a:srgbClr val="FFFFFF"/>
          </a:solidFill>
          <a:ln w="22860">
            <a:solidFill>
              <a:srgbClr val="C0C1D7"/>
            </a:solidFill>
            <a:prstDash val="solid"/>
          </a:ln>
        </p:spPr>
        <p:txBody>
          <a:bodyPr/>
          <a:lstStyle/>
          <a:p>
            <a:endParaRPr lang="zh-CN" altLang="en-US"/>
          </a:p>
        </p:txBody>
      </p:sp>
      <p:sp>
        <p:nvSpPr>
          <p:cNvPr id="27" name="Text 25"/>
          <p:cNvSpPr/>
          <p:nvPr/>
        </p:nvSpPr>
        <p:spPr>
          <a:xfrm>
            <a:off x="11064240" y="2696647"/>
            <a:ext cx="2645212" cy="628888"/>
          </a:xfrm>
          <a:prstGeom prst="rect">
            <a:avLst/>
          </a:prstGeom>
          <a:noFill/>
          <a:ln/>
        </p:spPr>
        <p:txBody>
          <a:bodyPr wrap="squar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Hand Tracking Latency</a:t>
            </a:r>
            <a:endParaRPr lang="en-US" sz="1950" dirty="0"/>
          </a:p>
        </p:txBody>
      </p:sp>
      <p:sp>
        <p:nvSpPr>
          <p:cNvPr id="28" name="Text 26"/>
          <p:cNvSpPr/>
          <p:nvPr/>
        </p:nvSpPr>
        <p:spPr>
          <a:xfrm>
            <a:off x="11064240" y="3504128"/>
            <a:ext cx="2645212"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hand_ms</a:t>
            </a:r>
            <a:endParaRPr lang="en-US" sz="1550" dirty="0"/>
          </a:p>
        </p:txBody>
      </p:sp>
      <p:sp>
        <p:nvSpPr>
          <p:cNvPr id="29" name="Shape 27"/>
          <p:cNvSpPr/>
          <p:nvPr/>
        </p:nvSpPr>
        <p:spPr>
          <a:xfrm>
            <a:off x="7568327" y="4210764"/>
            <a:ext cx="3093244" cy="1863566"/>
          </a:xfrm>
          <a:prstGeom prst="roundRect">
            <a:avLst>
              <a:gd name="adj" fmla="val 4537"/>
            </a:avLst>
          </a:prstGeom>
          <a:solidFill>
            <a:srgbClr val="FFFFFF"/>
          </a:solidFill>
          <a:ln w="22860">
            <a:solidFill>
              <a:srgbClr val="C0C1D7"/>
            </a:solidFill>
            <a:prstDash val="solid"/>
          </a:ln>
        </p:spPr>
        <p:txBody>
          <a:bodyPr/>
          <a:lstStyle/>
          <a:p>
            <a:endParaRPr lang="zh-CN" altLang="en-US"/>
          </a:p>
        </p:txBody>
      </p:sp>
      <p:sp>
        <p:nvSpPr>
          <p:cNvPr id="30" name="Text 28"/>
          <p:cNvSpPr/>
          <p:nvPr/>
        </p:nvSpPr>
        <p:spPr>
          <a:xfrm>
            <a:off x="7792403" y="4434840"/>
            <a:ext cx="2645093" cy="628888"/>
          </a:xfrm>
          <a:prstGeom prst="rect">
            <a:avLst/>
          </a:prstGeom>
          <a:noFill/>
          <a:ln/>
        </p:spPr>
        <p:txBody>
          <a:bodyPr wrap="squar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Depth Estimation Latency</a:t>
            </a:r>
            <a:endParaRPr lang="en-US" sz="1950" dirty="0"/>
          </a:p>
        </p:txBody>
      </p:sp>
      <p:sp>
        <p:nvSpPr>
          <p:cNvPr id="31" name="Text 29"/>
          <p:cNvSpPr/>
          <p:nvPr/>
        </p:nvSpPr>
        <p:spPr>
          <a:xfrm>
            <a:off x="7792403" y="5242322"/>
            <a:ext cx="2645093" cy="303967"/>
          </a:xfrm>
          <a:prstGeom prst="rect">
            <a:avLst/>
          </a:prstGeom>
          <a:noFill/>
          <a:ln/>
        </p:spPr>
        <p:txBody>
          <a:bodyPr wrap="non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depth_ms</a:t>
            </a:r>
            <a:endParaRPr lang="en-US" sz="1550" dirty="0"/>
          </a:p>
        </p:txBody>
      </p:sp>
      <p:sp>
        <p:nvSpPr>
          <p:cNvPr id="32" name="Shape 30"/>
          <p:cNvSpPr/>
          <p:nvPr/>
        </p:nvSpPr>
        <p:spPr>
          <a:xfrm>
            <a:off x="10840164" y="4210764"/>
            <a:ext cx="3093363" cy="1863566"/>
          </a:xfrm>
          <a:prstGeom prst="roundRect">
            <a:avLst>
              <a:gd name="adj" fmla="val 4537"/>
            </a:avLst>
          </a:prstGeom>
          <a:solidFill>
            <a:srgbClr val="FFFFFF"/>
          </a:solidFill>
          <a:ln w="22860">
            <a:solidFill>
              <a:srgbClr val="C0C1D7"/>
            </a:solidFill>
            <a:prstDash val="solid"/>
          </a:ln>
        </p:spPr>
        <p:txBody>
          <a:bodyPr/>
          <a:lstStyle/>
          <a:p>
            <a:endParaRPr lang="zh-CN" altLang="en-US"/>
          </a:p>
        </p:txBody>
      </p:sp>
      <p:sp>
        <p:nvSpPr>
          <p:cNvPr id="33" name="Text 31"/>
          <p:cNvSpPr/>
          <p:nvPr/>
        </p:nvSpPr>
        <p:spPr>
          <a:xfrm>
            <a:off x="11064240" y="4434840"/>
            <a:ext cx="2645212" cy="628888"/>
          </a:xfrm>
          <a:prstGeom prst="rect">
            <a:avLst/>
          </a:prstGeom>
          <a:noFill/>
          <a:ln/>
        </p:spPr>
        <p:txBody>
          <a:bodyPr wrap="square" lIns="0" tIns="0" rIns="0" bIns="0" rtlCol="0" anchor="t"/>
          <a:lstStyle/>
          <a:p>
            <a:pPr marL="0" indent="0" algn="l">
              <a:lnSpc>
                <a:spcPts val="2450"/>
              </a:lnSpc>
              <a:buNone/>
            </a:pPr>
            <a:r>
              <a:rPr lang="en-US" sz="1950" b="1" dirty="0">
                <a:solidFill>
                  <a:srgbClr val="272525"/>
                </a:solidFill>
                <a:latin typeface="Inter Bold" pitchFamily="34" charset="0"/>
                <a:ea typeface="Inter Bold" pitchFamily="34" charset="-122"/>
                <a:cs typeface="Inter Bold" pitchFamily="34" charset="-120"/>
              </a:rPr>
              <a:t>Confidence and Distance</a:t>
            </a:r>
            <a:endParaRPr lang="en-US" sz="1950" dirty="0"/>
          </a:p>
        </p:txBody>
      </p:sp>
      <p:sp>
        <p:nvSpPr>
          <p:cNvPr id="34" name="Text 32"/>
          <p:cNvSpPr/>
          <p:nvPr/>
        </p:nvSpPr>
        <p:spPr>
          <a:xfrm>
            <a:off x="11064240" y="5242322"/>
            <a:ext cx="2645212" cy="607933"/>
          </a:xfrm>
          <a:prstGeom prst="rect">
            <a:avLst/>
          </a:prstGeom>
          <a:noFill/>
          <a:ln/>
        </p:spPr>
        <p:txBody>
          <a:bodyPr wrap="squar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det_conf / pixel_dist_cm / depth_dist_cm</a:t>
            </a:r>
            <a:endParaRPr lang="en-US" sz="1550" dirty="0"/>
          </a:p>
        </p:txBody>
      </p:sp>
      <p:sp>
        <p:nvSpPr>
          <p:cNvPr id="35" name="Text 33"/>
          <p:cNvSpPr/>
          <p:nvPr/>
        </p:nvSpPr>
        <p:spPr>
          <a:xfrm>
            <a:off x="7568327" y="6275189"/>
            <a:ext cx="6365200" cy="911900"/>
          </a:xfrm>
          <a:prstGeom prst="rect">
            <a:avLst/>
          </a:prstGeom>
          <a:noFill/>
          <a:ln/>
        </p:spPr>
        <p:txBody>
          <a:bodyPr wrap="square" lIns="0" tIns="0" rIns="0" bIns="0" rtlCol="0" anchor="t"/>
          <a:lstStyle/>
          <a:p>
            <a:pPr marL="0" indent="0" algn="l">
              <a:lnSpc>
                <a:spcPts val="2350"/>
              </a:lnSpc>
              <a:buNone/>
            </a:pPr>
            <a:r>
              <a:rPr lang="en-US" sz="1550" dirty="0">
                <a:solidFill>
                  <a:srgbClr val="272525"/>
                </a:solidFill>
                <a:latin typeface="Inter" pitchFamily="34" charset="0"/>
                <a:ea typeface="Inter" pitchFamily="34" charset="-122"/>
                <a:cs typeface="Inter" pitchFamily="34" charset="-120"/>
              </a:rPr>
              <a:t>Frame-level metrics are written to the benchmark recorder in real time and can be exported at any time as a timestamped CSV file for offline analysis.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0329" y="1114187"/>
            <a:ext cx="12777787" cy="651986"/>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Inter Bold" pitchFamily="34" charset="0"/>
                <a:ea typeface="Inter Bold" pitchFamily="34" charset="-122"/>
                <a:cs typeface="Inter Bold" pitchFamily="34" charset="-120"/>
              </a:rPr>
              <a:t>Algorithm Design: Three Core Perception Modules</a:t>
            </a:r>
            <a:endParaRPr lang="en-US" sz="4100" dirty="0"/>
          </a:p>
        </p:txBody>
      </p:sp>
      <p:pic>
        <p:nvPicPr>
          <p:cNvPr id="3" name="Image 0" descr="preencoded.png"/>
          <p:cNvPicPr>
            <a:picLocks noChangeAspect="1"/>
          </p:cNvPicPr>
          <p:nvPr/>
        </p:nvPicPr>
        <p:blipFill>
          <a:blip r:embed="rId3"/>
          <a:stretch>
            <a:fillRect/>
          </a:stretch>
        </p:blipFill>
        <p:spPr>
          <a:xfrm>
            <a:off x="730329" y="2150031"/>
            <a:ext cx="1861066" cy="1150144"/>
          </a:xfrm>
          <a:prstGeom prst="rect">
            <a:avLst/>
          </a:prstGeom>
        </p:spPr>
      </p:pic>
      <p:sp>
        <p:nvSpPr>
          <p:cNvPr id="4" name="Text 1"/>
          <p:cNvSpPr/>
          <p:nvPr/>
        </p:nvSpPr>
        <p:spPr>
          <a:xfrm>
            <a:off x="730329" y="3540085"/>
            <a:ext cx="3312319" cy="325993"/>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Inter Bold" pitchFamily="34" charset="0"/>
                <a:ea typeface="Inter Bold" pitchFamily="34" charset="-122"/>
                <a:cs typeface="Inter Bold" pitchFamily="34" charset="-120"/>
              </a:rPr>
              <a:t>Option 1: Object Detection</a:t>
            </a:r>
            <a:endParaRPr lang="en-US" sz="2050" dirty="0"/>
          </a:p>
        </p:txBody>
      </p:sp>
      <p:sp>
        <p:nvSpPr>
          <p:cNvPr id="5" name="Text 2"/>
          <p:cNvSpPr/>
          <p:nvPr/>
        </p:nvSpPr>
        <p:spPr>
          <a:xfrm>
            <a:off x="730329" y="3981212"/>
            <a:ext cx="4229933" cy="2057400"/>
          </a:xfrm>
          <a:prstGeom prst="rect">
            <a:avLst/>
          </a:prstGeom>
          <a:noFill/>
          <a:ln/>
        </p:spPr>
        <p:txBody>
          <a:bodyPr wrap="square" lIns="0" tIns="0" rIns="0" bIns="0" rtlCol="0" anchor="t"/>
          <a:lstStyle/>
          <a:p>
            <a:pPr marL="342900" indent="-342900" algn="l">
              <a:lnSpc>
                <a:spcPts val="2500"/>
              </a:lnSpc>
              <a:buSzPct val="100000"/>
              <a:buChar char="•"/>
            </a:pPr>
            <a:r>
              <a:rPr lang="en-US" sz="1600" b="1" dirty="0">
                <a:solidFill>
                  <a:srgbClr val="272525"/>
                </a:solidFill>
                <a:latin typeface="Inter" pitchFamily="34" charset="0"/>
                <a:ea typeface="Inter" pitchFamily="34" charset="-122"/>
                <a:cs typeface="Inter" pitchFamily="34" charset="-120"/>
              </a:rPr>
              <a:t>YOLO11s</a:t>
            </a:r>
            <a:r>
              <a:rPr lang="en-US" sz="1600" dirty="0">
                <a:solidFill>
                  <a:srgbClr val="272525"/>
                </a:solidFill>
                <a:latin typeface="Inter" pitchFamily="34" charset="0"/>
                <a:ea typeface="Inter" pitchFamily="34" charset="-122"/>
                <a:cs typeface="Inter" pitchFamily="34" charset="-120"/>
              </a:rPr>
              <a:t> (default): CSP backbone, highest accuracy</a:t>
            </a:r>
            <a:endParaRPr lang="en-US" sz="1600" dirty="0"/>
          </a:p>
          <a:p>
            <a:pPr marL="342900" indent="-342900" algn="l">
              <a:lnSpc>
                <a:spcPts val="2500"/>
              </a:lnSpc>
              <a:buSzPct val="100000"/>
              <a:buChar char="•"/>
            </a:pPr>
            <a:r>
              <a:rPr lang="en-US" sz="1600" b="1" dirty="0">
                <a:solidFill>
                  <a:srgbClr val="272525"/>
                </a:solidFill>
                <a:latin typeface="Inter" pitchFamily="34" charset="0"/>
                <a:ea typeface="Inter" pitchFamily="34" charset="-122"/>
                <a:cs typeface="Inter" pitchFamily="34" charset="-120"/>
              </a:rPr>
              <a:t>YOLOv8 n/s/m</a:t>
            </a:r>
            <a:r>
              <a:rPr lang="en-US" sz="1600" dirty="0">
                <a:solidFill>
                  <a:srgbClr val="272525"/>
                </a:solidFill>
                <a:latin typeface="Inter" pitchFamily="34" charset="0"/>
                <a:ea typeface="Inter" pitchFamily="34" charset="-122"/>
                <a:cs typeface="Inter" pitchFamily="34" charset="-120"/>
              </a:rPr>
              <a:t>: speed-accuracy ablation comparison</a:t>
            </a:r>
            <a:endParaRPr lang="en-US" sz="1600" dirty="0"/>
          </a:p>
          <a:p>
            <a:pPr marL="342900" indent="-342900" algn="l">
              <a:lnSpc>
                <a:spcPts val="2500"/>
              </a:lnSpc>
              <a:buSzPct val="100000"/>
              <a:buChar char="•"/>
            </a:pPr>
            <a:r>
              <a:rPr lang="en-US" sz="1600" b="1" dirty="0">
                <a:solidFill>
                  <a:srgbClr val="272525"/>
                </a:solidFill>
                <a:latin typeface="Inter" pitchFamily="34" charset="0"/>
                <a:ea typeface="Inter" pitchFamily="34" charset="-122"/>
                <a:cs typeface="Inter" pitchFamily="34" charset="-120"/>
              </a:rPr>
              <a:t>SSD MobileNet v2</a:t>
            </a:r>
            <a:r>
              <a:rPr lang="en-US" sz="1600" dirty="0">
                <a:solidFill>
                  <a:srgbClr val="272525"/>
                </a:solidFill>
                <a:latin typeface="Inter" pitchFamily="34" charset="0"/>
                <a:ea typeface="Inter" pitchFamily="34" charset="-122"/>
                <a:cs typeface="Inter" pitchFamily="34" charset="-120"/>
              </a:rPr>
              <a:t>: OpenCV DNN, no additional dependencies</a:t>
            </a:r>
            <a:endParaRPr lang="en-US" sz="1600" dirty="0"/>
          </a:p>
        </p:txBody>
      </p:sp>
      <p:sp>
        <p:nvSpPr>
          <p:cNvPr id="6" name="Text 3"/>
          <p:cNvSpPr/>
          <p:nvPr/>
        </p:nvSpPr>
        <p:spPr>
          <a:xfrm>
            <a:off x="730329" y="6153745"/>
            <a:ext cx="4229933" cy="961549"/>
          </a:xfrm>
          <a:prstGeom prst="rect">
            <a:avLst/>
          </a:prstGeom>
          <a:noFill/>
          <a:ln/>
        </p:spPr>
        <p:txBody>
          <a:bodyPr wrap="square" lIns="0" tIns="0" rIns="0" bIns="0" rtlCol="0" anchor="t"/>
          <a:lstStyle/>
          <a:p>
            <a:pPr marL="0" indent="0" algn="l">
              <a:lnSpc>
                <a:spcPts val="2500"/>
              </a:lnSpc>
              <a:buNone/>
            </a:pPr>
            <a:r>
              <a:rPr lang="en-US" sz="1600" dirty="0">
                <a:solidFill>
                  <a:srgbClr val="272525"/>
                </a:solidFill>
                <a:latin typeface="Inter" pitchFamily="34" charset="0"/>
                <a:ea typeface="Inter" pitchFamily="34" charset="-122"/>
                <a:cs typeface="Inter" pitchFamily="34" charset="-120"/>
              </a:rPr>
              <a:t>Candidate targets are sorted by </a:t>
            </a:r>
            <a:r>
              <a:rPr lang="en-US" sz="1600" b="1" dirty="0">
                <a:solidFill>
                  <a:srgbClr val="272525"/>
                </a:solidFill>
                <a:latin typeface="Inter" pitchFamily="34" charset="0"/>
                <a:ea typeface="Inter" pitchFamily="34" charset="-122"/>
                <a:cs typeface="Inter" pitchFamily="34" charset="-120"/>
              </a:rPr>
              <a:t>area × confidence</a:t>
            </a:r>
            <a:r>
              <a:rPr lang="en-US" sz="1600" dirty="0">
                <a:solidFill>
                  <a:srgbClr val="272525"/>
                </a:solidFill>
                <a:latin typeface="Inter" pitchFamily="34" charset="0"/>
                <a:ea typeface="Inter" pitchFamily="34" charset="-122"/>
                <a:cs typeface="Inter" pitchFamily="34" charset="-120"/>
              </a:rPr>
              <a:t>, and the optimal detection box is selected.</a:t>
            </a:r>
            <a:endParaRPr lang="en-US" sz="1600" dirty="0"/>
          </a:p>
        </p:txBody>
      </p:sp>
      <p:pic>
        <p:nvPicPr>
          <p:cNvPr id="7" name="Image 1" descr="preencoded.png"/>
          <p:cNvPicPr>
            <a:picLocks noChangeAspect="1"/>
          </p:cNvPicPr>
          <p:nvPr/>
        </p:nvPicPr>
        <p:blipFill>
          <a:blip r:embed="rId4"/>
          <a:stretch>
            <a:fillRect/>
          </a:stretch>
        </p:blipFill>
        <p:spPr>
          <a:xfrm>
            <a:off x="5200174" y="2150031"/>
            <a:ext cx="1861066" cy="1150144"/>
          </a:xfrm>
          <a:prstGeom prst="rect">
            <a:avLst/>
          </a:prstGeom>
        </p:spPr>
      </p:pic>
      <p:sp>
        <p:nvSpPr>
          <p:cNvPr id="8" name="Text 4"/>
          <p:cNvSpPr/>
          <p:nvPr/>
        </p:nvSpPr>
        <p:spPr>
          <a:xfrm>
            <a:off x="5200174" y="3540085"/>
            <a:ext cx="3078837" cy="325993"/>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Inter Bold" pitchFamily="34" charset="0"/>
                <a:ea typeface="Inter Bold" pitchFamily="34" charset="-122"/>
                <a:cs typeface="Inter Bold" pitchFamily="34" charset="-120"/>
              </a:rPr>
              <a:t>Option 2: Hand Tracking</a:t>
            </a:r>
            <a:endParaRPr lang="en-US" sz="2050" dirty="0"/>
          </a:p>
        </p:txBody>
      </p:sp>
      <p:sp>
        <p:nvSpPr>
          <p:cNvPr id="9" name="Text 5"/>
          <p:cNvSpPr/>
          <p:nvPr/>
        </p:nvSpPr>
        <p:spPr>
          <a:xfrm>
            <a:off x="5200174" y="3981212"/>
            <a:ext cx="4229933" cy="2057400"/>
          </a:xfrm>
          <a:prstGeom prst="rect">
            <a:avLst/>
          </a:prstGeom>
          <a:noFill/>
          <a:ln/>
        </p:spPr>
        <p:txBody>
          <a:bodyPr wrap="square" lIns="0" tIns="0" rIns="0" bIns="0" rtlCol="0" anchor="t"/>
          <a:lstStyle/>
          <a:p>
            <a:pPr marL="342900" indent="-342900" algn="l">
              <a:lnSpc>
                <a:spcPts val="2500"/>
              </a:lnSpc>
              <a:buSzPct val="100000"/>
              <a:buChar char="•"/>
            </a:pPr>
            <a:r>
              <a:rPr lang="en-US" sz="1600" b="1" dirty="0">
                <a:solidFill>
                  <a:srgbClr val="272525"/>
                </a:solidFill>
                <a:latin typeface="Inter" pitchFamily="34" charset="0"/>
                <a:ea typeface="Inter" pitchFamily="34" charset="-122"/>
                <a:cs typeface="Inter" pitchFamily="34" charset="-120"/>
              </a:rPr>
              <a:t>MediaPipe Hands</a:t>
            </a:r>
            <a:r>
              <a:rPr lang="en-US" sz="1600" dirty="0">
                <a:solidFill>
                  <a:srgbClr val="272525"/>
                </a:solidFill>
                <a:latin typeface="Inter" pitchFamily="34" charset="0"/>
                <a:ea typeface="Inter" pitchFamily="34" charset="-122"/>
                <a:cs typeface="Inter" pitchFamily="34" charset="-120"/>
              </a:rPr>
              <a:t> (default): 21-point 3D skeleton, highest accuracy</a:t>
            </a:r>
            <a:endParaRPr lang="en-US" sz="1600" dirty="0"/>
          </a:p>
          <a:p>
            <a:pPr marL="342900" indent="-342900" algn="l">
              <a:lnSpc>
                <a:spcPts val="2500"/>
              </a:lnSpc>
              <a:buSzPct val="100000"/>
              <a:buChar char="•"/>
            </a:pPr>
            <a:r>
              <a:rPr lang="en-US" sz="1600" b="1" dirty="0">
                <a:solidFill>
                  <a:srgbClr val="272525"/>
                </a:solidFill>
                <a:latin typeface="Inter" pitchFamily="34" charset="0"/>
                <a:ea typeface="Inter" pitchFamily="34" charset="-122"/>
                <a:cs typeface="Inter" pitchFamily="34" charset="-120"/>
              </a:rPr>
              <a:t>YOLO-Pose</a:t>
            </a:r>
            <a:r>
              <a:rPr lang="en-US" sz="1600" dirty="0">
                <a:solidFill>
                  <a:srgbClr val="272525"/>
                </a:solidFill>
                <a:latin typeface="Inter" pitchFamily="34" charset="0"/>
                <a:ea typeface="Inter" pitchFamily="34" charset="-122"/>
                <a:cs typeface="Inter" pitchFamily="34" charset="-120"/>
              </a:rPr>
              <a:t>: extracts wrist keypoints, strong robustness to occlusion</a:t>
            </a:r>
            <a:endParaRPr lang="en-US" sz="1600" dirty="0"/>
          </a:p>
          <a:p>
            <a:pPr marL="342900" indent="-342900" algn="l">
              <a:lnSpc>
                <a:spcPts val="2500"/>
              </a:lnSpc>
              <a:buSzPct val="100000"/>
              <a:buChar char="•"/>
            </a:pPr>
            <a:r>
              <a:rPr lang="en-US" sz="1600" b="1" dirty="0">
                <a:solidFill>
                  <a:srgbClr val="272525"/>
                </a:solidFill>
                <a:latin typeface="Inter" pitchFamily="34" charset="0"/>
                <a:ea typeface="Inter" pitchFamily="34" charset="-122"/>
                <a:cs typeface="Inter" pitchFamily="34" charset="-120"/>
              </a:rPr>
              <a:t>MediaPipe Holistic</a:t>
            </a:r>
            <a:r>
              <a:rPr lang="en-US" sz="1600" dirty="0">
                <a:solidFill>
                  <a:srgbClr val="272525"/>
                </a:solidFill>
                <a:latin typeface="Inter" pitchFamily="34" charset="0"/>
                <a:ea typeface="Inter" pitchFamily="34" charset="-122"/>
                <a:cs typeface="Inter" pitchFamily="34" charset="-120"/>
              </a:rPr>
              <a:t>: full-body context for stable hand tracking</a:t>
            </a:r>
            <a:endParaRPr lang="en-US" sz="1600" dirty="0"/>
          </a:p>
        </p:txBody>
      </p:sp>
      <p:sp>
        <p:nvSpPr>
          <p:cNvPr id="10" name="Text 6"/>
          <p:cNvSpPr/>
          <p:nvPr/>
        </p:nvSpPr>
        <p:spPr>
          <a:xfrm>
            <a:off x="5200174" y="6153745"/>
            <a:ext cx="4229933" cy="641033"/>
          </a:xfrm>
          <a:prstGeom prst="rect">
            <a:avLst/>
          </a:prstGeom>
          <a:noFill/>
          <a:ln/>
        </p:spPr>
        <p:txBody>
          <a:bodyPr wrap="square" lIns="0" tIns="0" rIns="0" bIns="0" rtlCol="0" anchor="t"/>
          <a:lstStyle/>
          <a:p>
            <a:pPr marL="0" indent="0" algn="l">
              <a:lnSpc>
                <a:spcPts val="2500"/>
              </a:lnSpc>
              <a:buNone/>
            </a:pPr>
            <a:r>
              <a:rPr lang="en-US" sz="1600" dirty="0">
                <a:solidFill>
                  <a:srgbClr val="272525"/>
                </a:solidFill>
                <a:latin typeface="Inter" pitchFamily="34" charset="0"/>
                <a:ea typeface="Inter" pitchFamily="34" charset="-122"/>
                <a:cs typeface="Inter" pitchFamily="34" charset="-120"/>
              </a:rPr>
              <a:t>The hand center is the mean of the pixel coordinates of all keypoints.</a:t>
            </a:r>
            <a:endParaRPr lang="en-US" sz="1600" dirty="0"/>
          </a:p>
        </p:txBody>
      </p:sp>
      <p:pic>
        <p:nvPicPr>
          <p:cNvPr id="11" name="Image 2" descr="preencoded.png"/>
          <p:cNvPicPr>
            <a:picLocks noChangeAspect="1"/>
          </p:cNvPicPr>
          <p:nvPr/>
        </p:nvPicPr>
        <p:blipFill>
          <a:blip r:embed="rId5"/>
          <a:stretch>
            <a:fillRect/>
          </a:stretch>
        </p:blipFill>
        <p:spPr>
          <a:xfrm>
            <a:off x="9670018" y="2150031"/>
            <a:ext cx="1861185" cy="1150263"/>
          </a:xfrm>
          <a:prstGeom prst="rect">
            <a:avLst/>
          </a:prstGeom>
        </p:spPr>
      </p:pic>
      <p:sp>
        <p:nvSpPr>
          <p:cNvPr id="12" name="Text 7"/>
          <p:cNvSpPr/>
          <p:nvPr/>
        </p:nvSpPr>
        <p:spPr>
          <a:xfrm>
            <a:off x="9670018" y="3540204"/>
            <a:ext cx="4230053" cy="651986"/>
          </a:xfrm>
          <a:prstGeom prst="rect">
            <a:avLst/>
          </a:prstGeom>
          <a:noFill/>
          <a:ln/>
        </p:spPr>
        <p:txBody>
          <a:bodyPr wrap="square" lIns="0" tIns="0" rIns="0" bIns="0" rtlCol="0" anchor="t"/>
          <a:lstStyle/>
          <a:p>
            <a:pPr marL="0" indent="0" algn="l">
              <a:lnSpc>
                <a:spcPts val="2550"/>
              </a:lnSpc>
              <a:buNone/>
            </a:pPr>
            <a:r>
              <a:rPr lang="en-US" sz="2050" b="1" dirty="0">
                <a:solidFill>
                  <a:srgbClr val="272525"/>
                </a:solidFill>
                <a:latin typeface="Inter Bold" pitchFamily="34" charset="0"/>
                <a:ea typeface="Inter Bold" pitchFamily="34" charset="-122"/>
                <a:cs typeface="Inter Bold" pitchFamily="34" charset="-120"/>
              </a:rPr>
              <a:t>Option 3: Distance / Depth Estimation</a:t>
            </a:r>
            <a:endParaRPr lang="en-US" sz="2050" dirty="0"/>
          </a:p>
        </p:txBody>
      </p:sp>
      <p:sp>
        <p:nvSpPr>
          <p:cNvPr id="13" name="Text 8"/>
          <p:cNvSpPr/>
          <p:nvPr/>
        </p:nvSpPr>
        <p:spPr>
          <a:xfrm>
            <a:off x="9670018" y="4307324"/>
            <a:ext cx="4230053" cy="1349216"/>
          </a:xfrm>
          <a:prstGeom prst="rect">
            <a:avLst/>
          </a:prstGeom>
          <a:noFill/>
          <a:ln/>
        </p:spPr>
        <p:txBody>
          <a:bodyPr wrap="square" lIns="0" tIns="0" rIns="0" bIns="0" rtlCol="0" anchor="t"/>
          <a:lstStyle/>
          <a:p>
            <a:pPr marL="342900" indent="-342900" algn="l">
              <a:lnSpc>
                <a:spcPts val="2500"/>
              </a:lnSpc>
              <a:buSzPct val="100000"/>
              <a:buChar char="•"/>
            </a:pPr>
            <a:r>
              <a:rPr lang="en-US" sz="1600" b="1" dirty="0">
                <a:solidFill>
                  <a:srgbClr val="272525"/>
                </a:solidFill>
                <a:latin typeface="Inter" pitchFamily="34" charset="0"/>
                <a:ea typeface="Inter" pitchFamily="34" charset="-122"/>
                <a:cs typeface="Inter" pitchFamily="34" charset="-120"/>
              </a:rPr>
              <a:t>Pixel baseline</a:t>
            </a:r>
            <a:r>
              <a:rPr lang="en-US" sz="1600" dirty="0">
                <a:solidFill>
                  <a:srgbClr val="272525"/>
                </a:solidFill>
                <a:latin typeface="Inter" pitchFamily="34" charset="0"/>
                <a:ea typeface="Inter" pitchFamily="34" charset="-122"/>
                <a:cs typeface="Inter" pitchFamily="34" charset="-120"/>
              </a:rPr>
              <a:t>: 2D Euclidean distance × cm/px ratio, O(1) without GPU</a:t>
            </a:r>
            <a:endParaRPr lang="en-US" sz="1600" dirty="0"/>
          </a:p>
          <a:p>
            <a:pPr marL="342900" indent="-342900" algn="l">
              <a:lnSpc>
                <a:spcPts val="2500"/>
              </a:lnSpc>
              <a:buSzPct val="100000"/>
              <a:buChar char="•"/>
            </a:pPr>
            <a:r>
              <a:rPr lang="en-US" sz="1600" b="1" dirty="0">
                <a:solidFill>
                  <a:srgbClr val="272525"/>
                </a:solidFill>
                <a:latin typeface="Inter" pitchFamily="34" charset="0"/>
                <a:ea typeface="Inter" pitchFamily="34" charset="-122"/>
                <a:cs typeface="Inter" pitchFamily="34" charset="-120"/>
              </a:rPr>
              <a:t>MiDaS</a:t>
            </a:r>
            <a:r>
              <a:rPr lang="en-US" sz="1600" dirty="0">
                <a:solidFill>
                  <a:srgbClr val="272525"/>
                </a:solidFill>
                <a:latin typeface="Inter" pitchFamily="34" charset="0"/>
                <a:ea typeface="Inter" pitchFamily="34" charset="-122"/>
                <a:cs typeface="Inter" pitchFamily="34" charset="-120"/>
              </a:rPr>
              <a:t>: monocular depth fusion, Z-axis perception, approximately 83MB model</a:t>
            </a:r>
            <a:endParaRPr lang="en-US" sz="1600" dirty="0"/>
          </a:p>
        </p:txBody>
      </p:sp>
      <p:sp>
        <p:nvSpPr>
          <p:cNvPr id="14" name="Text 9"/>
          <p:cNvSpPr/>
          <p:nvPr/>
        </p:nvSpPr>
        <p:spPr>
          <a:xfrm>
            <a:off x="9670018" y="5771674"/>
            <a:ext cx="4230053" cy="641033"/>
          </a:xfrm>
          <a:prstGeom prst="rect">
            <a:avLst/>
          </a:prstGeom>
          <a:noFill/>
          <a:ln/>
        </p:spPr>
        <p:txBody>
          <a:bodyPr wrap="square" lIns="0" tIns="0" rIns="0" bIns="0" rtlCol="0" anchor="t"/>
          <a:lstStyle/>
          <a:p>
            <a:pPr marL="0" indent="0" algn="l">
              <a:lnSpc>
                <a:spcPts val="2500"/>
              </a:lnSpc>
              <a:buNone/>
            </a:pPr>
            <a:r>
              <a:rPr lang="en-US" sz="1600" dirty="0">
                <a:solidFill>
                  <a:srgbClr val="272525"/>
                </a:solidFill>
                <a:latin typeface="Inter" pitchFamily="34" charset="0"/>
                <a:ea typeface="Inter" pitchFamily="34" charset="-122"/>
                <a:cs typeface="Inter" pitchFamily="34" charset="-120"/>
              </a:rPr>
              <a:t>MiDaS updates the depth map every 3 frames to reduce CPU overhead.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293501" y="1467207"/>
            <a:ext cx="7214949" cy="454819"/>
          </a:xfrm>
          <a:prstGeom prst="rect">
            <a:avLst/>
          </a:prstGeom>
          <a:noFill/>
          <a:ln/>
        </p:spPr>
        <p:txBody>
          <a:bodyPr wrap="none" lIns="0" tIns="0" rIns="0" bIns="0" rtlCol="0" anchor="t"/>
          <a:lstStyle/>
          <a:p>
            <a:pPr marL="0" indent="0" algn="l">
              <a:lnSpc>
                <a:spcPts val="3550"/>
              </a:lnSpc>
              <a:buNone/>
            </a:pPr>
            <a:r>
              <a:rPr lang="en-US" sz="2850" b="1" dirty="0">
                <a:solidFill>
                  <a:srgbClr val="000000"/>
                </a:solidFill>
                <a:latin typeface="Inter Bold" pitchFamily="34" charset="0"/>
                <a:ea typeface="Inter Bold" pitchFamily="34" charset="-122"/>
                <a:cs typeface="Inter Bold" pitchFamily="34" charset="-120"/>
              </a:rPr>
              <a:t>Depth Estimation: MiDaS Fusion Solution</a:t>
            </a:r>
            <a:endParaRPr lang="en-US" sz="2850" dirty="0"/>
          </a:p>
        </p:txBody>
      </p:sp>
      <p:pic>
        <p:nvPicPr>
          <p:cNvPr id="3" name="Image 0" descr="preencoded.png"/>
          <p:cNvPicPr>
            <a:picLocks noChangeAspect="1"/>
          </p:cNvPicPr>
          <p:nvPr/>
        </p:nvPicPr>
        <p:blipFill>
          <a:blip r:embed="rId3"/>
          <a:stretch>
            <a:fillRect/>
          </a:stretch>
        </p:blipFill>
        <p:spPr>
          <a:xfrm>
            <a:off x="2293501" y="2625090"/>
            <a:ext cx="6403896" cy="3574256"/>
          </a:xfrm>
          <a:prstGeom prst="rect">
            <a:avLst/>
          </a:prstGeom>
        </p:spPr>
      </p:pic>
      <p:sp>
        <p:nvSpPr>
          <p:cNvPr id="4" name="Text 1"/>
          <p:cNvSpPr/>
          <p:nvPr/>
        </p:nvSpPr>
        <p:spPr>
          <a:xfrm>
            <a:off x="9060061" y="2155388"/>
            <a:ext cx="3024783" cy="227409"/>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Why is Z-axis perception needed?</a:t>
            </a:r>
            <a:endParaRPr lang="en-US" sz="1400" dirty="0"/>
          </a:p>
        </p:txBody>
      </p:sp>
      <p:sp>
        <p:nvSpPr>
          <p:cNvPr id="5" name="Text 2"/>
          <p:cNvSpPr/>
          <p:nvPr/>
        </p:nvSpPr>
        <p:spPr>
          <a:xfrm>
            <a:off x="9060061" y="2476143"/>
            <a:ext cx="3284339" cy="1147286"/>
          </a:xfrm>
          <a:prstGeom prst="rect">
            <a:avLst/>
          </a:prstGeom>
          <a:noFill/>
          <a:ln/>
        </p:spPr>
        <p:txBody>
          <a:bodyPr wrap="square" lIns="0" tIns="0" rIns="0" bIns="0" rtlCol="0" anchor="t"/>
          <a:lstStyle/>
          <a:p>
            <a:pPr marL="0" indent="0" algn="l">
              <a:lnSpc>
                <a:spcPts val="1500"/>
              </a:lnSpc>
              <a:buNone/>
            </a:pPr>
            <a:r>
              <a:rPr lang="en-US" sz="1100" dirty="0">
                <a:solidFill>
                  <a:srgbClr val="272525"/>
                </a:solidFill>
                <a:latin typeface="Inter" pitchFamily="34" charset="0"/>
                <a:ea typeface="Inter" pitchFamily="34" charset="-122"/>
                <a:cs typeface="Inter" pitchFamily="34" charset="-120"/>
              </a:rPr>
              <a:t>In top-down or oblique scenes, the hand and the target are at a distance of ≈0 in 2D pixel space, but are actually 15–20 cm apart along the Z axis. The pixel baseline will incorrectly report "arrived," while MiDaS can detect and report the vertical gap.</a:t>
            </a:r>
            <a:endParaRPr lang="en-US" sz="1100" dirty="0"/>
          </a:p>
        </p:txBody>
      </p:sp>
      <p:sp>
        <p:nvSpPr>
          <p:cNvPr id="6" name="Text 3"/>
          <p:cNvSpPr/>
          <p:nvPr/>
        </p:nvSpPr>
        <p:spPr>
          <a:xfrm>
            <a:off x="9060061" y="3716774"/>
            <a:ext cx="1819394" cy="227409"/>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3D distance formula</a:t>
            </a:r>
            <a:endParaRPr lang="en-US" sz="1400" dirty="0"/>
          </a:p>
        </p:txBody>
      </p:sp>
      <p:sp>
        <p:nvSpPr>
          <p:cNvPr id="7" name="Text 4"/>
          <p:cNvSpPr/>
          <p:nvPr/>
        </p:nvSpPr>
        <p:spPr>
          <a:xfrm>
            <a:off x="9060061" y="4062293"/>
            <a:ext cx="3284339" cy="364569"/>
          </a:xfrm>
          <a:prstGeom prst="rect">
            <a:avLst/>
          </a:prstGeom>
          <a:noFill/>
          <a:ln/>
        </p:spPr>
        <p:txBody>
          <a:bodyPr wrap="square" lIns="0" tIns="0" rIns="0" bIns="0" rtlCol="0" anchor="t"/>
          <a:lstStyle/>
          <a:p>
            <a:pPr marL="0" indent="0" algn="l">
              <a:lnSpc>
                <a:spcPts val="1650"/>
              </a:lnSpc>
              <a:buNone/>
            </a:pPr>
            <a:endParaRPr lang="en-US" sz="1250" dirty="0"/>
          </a:p>
        </p:txBody>
      </p:sp>
      <p:pic>
        <p:nvPicPr>
          <p:cNvPr id="8" name="Image 1" descr="preencoded.png"/>
          <p:cNvPicPr>
            <a:picLocks noChangeAspect="1"/>
          </p:cNvPicPr>
          <p:nvPr/>
        </p:nvPicPr>
        <p:blipFill>
          <a:blip r:embed="rId4"/>
          <a:stretch>
            <a:fillRect/>
          </a:stretch>
        </p:blipFill>
        <p:spPr>
          <a:xfrm>
            <a:off x="9060061" y="4062293"/>
            <a:ext cx="3284339" cy="364569"/>
          </a:xfrm>
          <a:prstGeom prst="rect">
            <a:avLst/>
          </a:prstGeom>
        </p:spPr>
      </p:pic>
      <p:sp>
        <p:nvSpPr>
          <p:cNvPr id="9" name="Text 5"/>
          <p:cNvSpPr/>
          <p:nvPr/>
        </p:nvSpPr>
        <p:spPr>
          <a:xfrm>
            <a:off x="9060061" y="4544973"/>
            <a:ext cx="3284339" cy="573643"/>
          </a:xfrm>
          <a:prstGeom prst="rect">
            <a:avLst/>
          </a:prstGeom>
          <a:noFill/>
          <a:ln/>
        </p:spPr>
        <p:txBody>
          <a:bodyPr wrap="square" lIns="0" tIns="0" rIns="0" bIns="0" rtlCol="0" anchor="t"/>
          <a:lstStyle/>
          <a:p>
            <a:pPr marL="0" indent="0" algn="l">
              <a:lnSpc>
                <a:spcPts val="1500"/>
              </a:lnSpc>
              <a:buNone/>
            </a:pPr>
            <a:r>
              <a:rPr lang="en-US" sz="1100" dirty="0">
                <a:solidFill>
                  <a:srgbClr val="272525"/>
                </a:solidFill>
                <a:latin typeface="Inter" pitchFamily="34" charset="0"/>
                <a:ea typeface="Inter" pitchFamily="34" charset="-122"/>
                <a:cs typeface="Inter" pitchFamily="34" charset="-120"/>
              </a:rPr>
              <a:t>where , the inverse depth values are normalized to [0,1] within each frame before taking the difference.</a:t>
            </a:r>
            <a:endParaRPr lang="en-US" sz="1100" dirty="0"/>
          </a:p>
        </p:txBody>
      </p:sp>
      <p:sp>
        <p:nvSpPr>
          <p:cNvPr id="10" name="Shape 6"/>
          <p:cNvSpPr/>
          <p:nvPr/>
        </p:nvSpPr>
        <p:spPr>
          <a:xfrm>
            <a:off x="9060061" y="5223629"/>
            <a:ext cx="3284339" cy="1433751"/>
          </a:xfrm>
          <a:prstGeom prst="roundRect">
            <a:avLst>
              <a:gd name="adj" fmla="val 4264"/>
            </a:avLst>
          </a:prstGeom>
          <a:solidFill>
            <a:srgbClr val="C7C9EA"/>
          </a:solidFill>
          <a:ln/>
        </p:spPr>
        <p:txBody>
          <a:bodyPr/>
          <a:lstStyle/>
          <a:p>
            <a:endParaRPr lang="zh-CN" altLang="en-US"/>
          </a:p>
        </p:txBody>
      </p:sp>
      <p:pic>
        <p:nvPicPr>
          <p:cNvPr id="11" name="Image 2" descr="preencoded.png"/>
          <p:cNvPicPr>
            <a:picLocks noChangeAspect="1"/>
          </p:cNvPicPr>
          <p:nvPr/>
        </p:nvPicPr>
        <p:blipFill>
          <a:blip r:embed="rId5"/>
          <a:stretch>
            <a:fillRect/>
          </a:stretch>
        </p:blipFill>
        <p:spPr>
          <a:xfrm>
            <a:off x="9205555" y="5422821"/>
            <a:ext cx="181928" cy="145494"/>
          </a:xfrm>
          <a:prstGeom prst="rect">
            <a:avLst/>
          </a:prstGeom>
        </p:spPr>
      </p:pic>
      <p:sp>
        <p:nvSpPr>
          <p:cNvPr id="12" name="Text 7"/>
          <p:cNvSpPr/>
          <p:nvPr/>
        </p:nvSpPr>
        <p:spPr>
          <a:xfrm>
            <a:off x="9532977" y="5353288"/>
            <a:ext cx="2665928" cy="1147286"/>
          </a:xfrm>
          <a:prstGeom prst="rect">
            <a:avLst/>
          </a:prstGeom>
          <a:noFill/>
          <a:ln/>
        </p:spPr>
        <p:txBody>
          <a:bodyPr wrap="square" lIns="0" tIns="0" rIns="0" bIns="0" rtlCol="0" anchor="t"/>
          <a:lstStyle/>
          <a:p>
            <a:pPr marL="0" indent="0" algn="l">
              <a:lnSpc>
                <a:spcPts val="1500"/>
              </a:lnSpc>
              <a:buNone/>
            </a:pPr>
            <a:r>
              <a:rPr lang="en-US" sz="1100" dirty="0">
                <a:solidFill>
                  <a:srgbClr val="000000"/>
                </a:solidFill>
                <a:latin typeface="Inter" pitchFamily="34" charset="0"/>
                <a:ea typeface="Inter" pitchFamily="34" charset="-122"/>
                <a:cs typeface="Inter" pitchFamily="34" charset="-120"/>
              </a:rPr>
              <a:t>Frame-skipping optimization: run MiDaS inference once every 3 frames and reuse the previous depth map for the intermediate frames, effectively reducing computational overhead in slow hand-motion scenarios.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022991" y="1140857"/>
            <a:ext cx="7540585" cy="479346"/>
          </a:xfrm>
          <a:prstGeom prst="rect">
            <a:avLst/>
          </a:prstGeom>
          <a:noFill/>
          <a:ln/>
        </p:spPr>
        <p:txBody>
          <a:bodyPr wrap="none" lIns="0" tIns="0" rIns="0" bIns="0" rtlCol="0" anchor="t"/>
          <a:lstStyle/>
          <a:p>
            <a:pPr marL="0" indent="0" algn="l">
              <a:lnSpc>
                <a:spcPts val="3750"/>
              </a:lnSpc>
              <a:buNone/>
            </a:pPr>
            <a:r>
              <a:rPr lang="en-US" sz="3000" b="1" dirty="0">
                <a:solidFill>
                  <a:srgbClr val="000000"/>
                </a:solidFill>
                <a:latin typeface="Inter Bold" pitchFamily="34" charset="0"/>
                <a:ea typeface="Inter Bold" pitchFamily="34" charset="-122"/>
                <a:cs typeface="Inter Bold" pitchFamily="34" charset="-120"/>
              </a:rPr>
              <a:t>Guidance Strategy and Voice Interaction</a:t>
            </a:r>
            <a:endParaRPr lang="en-US" sz="3000" dirty="0"/>
          </a:p>
        </p:txBody>
      </p:sp>
      <p:sp>
        <p:nvSpPr>
          <p:cNvPr id="3" name="Text 1"/>
          <p:cNvSpPr/>
          <p:nvPr/>
        </p:nvSpPr>
        <p:spPr>
          <a:xfrm>
            <a:off x="1542931" y="2738009"/>
            <a:ext cx="2202299" cy="239554"/>
          </a:xfrm>
          <a:prstGeom prst="rect">
            <a:avLst/>
          </a:prstGeom>
          <a:noFill/>
          <a:ln/>
        </p:spPr>
        <p:txBody>
          <a:bodyPr wrap="none" lIns="0" tIns="0" rIns="0" bIns="0" rtlCol="0" anchor="t"/>
          <a:lstStyle/>
          <a:p>
            <a:pPr marL="0" indent="0" algn="l">
              <a:lnSpc>
                <a:spcPts val="1850"/>
              </a:lnSpc>
              <a:buNone/>
            </a:pPr>
            <a:r>
              <a:rPr lang="en-US" sz="1500" b="1" dirty="0">
                <a:solidFill>
                  <a:srgbClr val="000000"/>
                </a:solidFill>
                <a:latin typeface="Inter Bold" pitchFamily="34" charset="0"/>
                <a:ea typeface="Inter Bold" pitchFamily="34" charset="-122"/>
                <a:cs typeface="Inter Bold" pitchFamily="34" charset="-120"/>
              </a:rPr>
              <a:t>Decision State Machine</a:t>
            </a:r>
            <a:endParaRPr lang="en-US" sz="1500" dirty="0"/>
          </a:p>
        </p:txBody>
      </p:sp>
      <p:sp>
        <p:nvSpPr>
          <p:cNvPr id="4" name="Shape 2"/>
          <p:cNvSpPr/>
          <p:nvPr/>
        </p:nvSpPr>
        <p:spPr>
          <a:xfrm>
            <a:off x="1565791" y="3124296"/>
            <a:ext cx="2500670" cy="1346478"/>
          </a:xfrm>
          <a:prstGeom prst="roundRect">
            <a:avLst>
              <a:gd name="adj" fmla="val 8149"/>
            </a:avLst>
          </a:prstGeom>
          <a:solidFill>
            <a:srgbClr val="FFFFFF"/>
          </a:solidFill>
          <a:ln w="22860">
            <a:solidFill>
              <a:srgbClr val="C0C1D7"/>
            </a:solidFill>
            <a:prstDash val="solid"/>
          </a:ln>
        </p:spPr>
        <p:txBody>
          <a:bodyPr/>
          <a:lstStyle/>
          <a:p>
            <a:endParaRPr lang="zh-CN" altLang="en-US"/>
          </a:p>
        </p:txBody>
      </p:sp>
      <p:sp>
        <p:nvSpPr>
          <p:cNvPr id="5" name="Shape 3"/>
          <p:cNvSpPr/>
          <p:nvPr/>
        </p:nvSpPr>
        <p:spPr>
          <a:xfrm>
            <a:off x="1542931" y="3124296"/>
            <a:ext cx="91440" cy="1346478"/>
          </a:xfrm>
          <a:prstGeom prst="roundRect">
            <a:avLst>
              <a:gd name="adj" fmla="val 70458"/>
            </a:avLst>
          </a:prstGeom>
          <a:solidFill>
            <a:srgbClr val="4950BC"/>
          </a:solidFill>
          <a:ln/>
        </p:spPr>
        <p:txBody>
          <a:bodyPr/>
          <a:lstStyle/>
          <a:p>
            <a:endParaRPr lang="zh-CN" altLang="en-US"/>
          </a:p>
        </p:txBody>
      </p:sp>
      <p:sp>
        <p:nvSpPr>
          <p:cNvPr id="6" name="Text 4"/>
          <p:cNvSpPr/>
          <p:nvPr/>
        </p:nvSpPr>
        <p:spPr>
          <a:xfrm>
            <a:off x="1810583" y="3300508"/>
            <a:ext cx="2079665" cy="479108"/>
          </a:xfrm>
          <a:prstGeom prst="rect">
            <a:avLst/>
          </a:prstGeom>
          <a:noFill/>
          <a:ln/>
        </p:spPr>
        <p:txBody>
          <a:bodyPr wrap="squar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No hand or target detected</a:t>
            </a:r>
            <a:endParaRPr lang="en-US" sz="1500" dirty="0"/>
          </a:p>
        </p:txBody>
      </p:sp>
      <p:sp>
        <p:nvSpPr>
          <p:cNvPr id="7" name="Text 5"/>
          <p:cNvSpPr/>
          <p:nvPr/>
        </p:nvSpPr>
        <p:spPr>
          <a:xfrm>
            <a:off x="1810583" y="3883319"/>
            <a:ext cx="2079665" cy="411242"/>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"Please place the hand and target object in the frame"</a:t>
            </a:r>
            <a:endParaRPr lang="en-US" sz="1200" dirty="0"/>
          </a:p>
        </p:txBody>
      </p:sp>
      <p:sp>
        <p:nvSpPr>
          <p:cNvPr id="8" name="Shape 6"/>
          <p:cNvSpPr/>
          <p:nvPr/>
        </p:nvSpPr>
        <p:spPr>
          <a:xfrm>
            <a:off x="4170164" y="3124296"/>
            <a:ext cx="2500670" cy="1346478"/>
          </a:xfrm>
          <a:prstGeom prst="roundRect">
            <a:avLst>
              <a:gd name="adj" fmla="val 8149"/>
            </a:avLst>
          </a:prstGeom>
          <a:solidFill>
            <a:srgbClr val="FFFFFF"/>
          </a:solidFill>
          <a:ln w="22860">
            <a:solidFill>
              <a:srgbClr val="C0C1D7"/>
            </a:solidFill>
            <a:prstDash val="solid"/>
          </a:ln>
        </p:spPr>
        <p:txBody>
          <a:bodyPr/>
          <a:lstStyle/>
          <a:p>
            <a:endParaRPr lang="zh-CN" altLang="en-US"/>
          </a:p>
        </p:txBody>
      </p:sp>
      <p:sp>
        <p:nvSpPr>
          <p:cNvPr id="9" name="Shape 7"/>
          <p:cNvSpPr/>
          <p:nvPr/>
        </p:nvSpPr>
        <p:spPr>
          <a:xfrm>
            <a:off x="4147304" y="3124296"/>
            <a:ext cx="91440" cy="1346478"/>
          </a:xfrm>
          <a:prstGeom prst="roundRect">
            <a:avLst>
              <a:gd name="adj" fmla="val 70458"/>
            </a:avLst>
          </a:prstGeom>
          <a:solidFill>
            <a:srgbClr val="4950BC"/>
          </a:solidFill>
          <a:ln/>
        </p:spPr>
        <p:txBody>
          <a:bodyPr/>
          <a:lstStyle/>
          <a:p>
            <a:endParaRPr lang="zh-CN" altLang="en-US"/>
          </a:p>
        </p:txBody>
      </p:sp>
      <p:sp>
        <p:nvSpPr>
          <p:cNvPr id="10" name="Text 8"/>
          <p:cNvSpPr/>
          <p:nvPr/>
        </p:nvSpPr>
        <p:spPr>
          <a:xfrm>
            <a:off x="4414957" y="3300508"/>
            <a:ext cx="2079665" cy="479108"/>
          </a:xfrm>
          <a:prstGeom prst="rect">
            <a:avLst/>
          </a:prstGeom>
          <a:noFill/>
          <a:ln/>
        </p:spPr>
        <p:txBody>
          <a:bodyPr wrap="squar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Manhattan distance &lt; 120px</a:t>
            </a:r>
            <a:endParaRPr lang="en-US" sz="1500" dirty="0"/>
          </a:p>
        </p:txBody>
      </p:sp>
      <p:sp>
        <p:nvSpPr>
          <p:cNvPr id="11" name="Text 9"/>
          <p:cNvSpPr/>
          <p:nvPr/>
        </p:nvSpPr>
        <p:spPr>
          <a:xfrm>
            <a:off x="4414957" y="3883319"/>
            <a:ext cx="2079665" cy="411242"/>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"Stop, target is within grasp range, grasp immediately"</a:t>
            </a:r>
            <a:endParaRPr lang="en-US" sz="1200" dirty="0"/>
          </a:p>
        </p:txBody>
      </p:sp>
      <p:sp>
        <p:nvSpPr>
          <p:cNvPr id="12" name="Shape 10"/>
          <p:cNvSpPr/>
          <p:nvPr/>
        </p:nvSpPr>
        <p:spPr>
          <a:xfrm>
            <a:off x="1565791" y="4574477"/>
            <a:ext cx="2500670" cy="1346478"/>
          </a:xfrm>
          <a:prstGeom prst="roundRect">
            <a:avLst>
              <a:gd name="adj" fmla="val 8149"/>
            </a:avLst>
          </a:prstGeom>
          <a:solidFill>
            <a:srgbClr val="FFFFFF"/>
          </a:solidFill>
          <a:ln w="22860">
            <a:solidFill>
              <a:srgbClr val="C0C1D7"/>
            </a:solidFill>
            <a:prstDash val="solid"/>
          </a:ln>
        </p:spPr>
        <p:txBody>
          <a:bodyPr/>
          <a:lstStyle/>
          <a:p>
            <a:endParaRPr lang="zh-CN" altLang="en-US"/>
          </a:p>
        </p:txBody>
      </p:sp>
      <p:sp>
        <p:nvSpPr>
          <p:cNvPr id="13" name="Shape 11"/>
          <p:cNvSpPr/>
          <p:nvPr/>
        </p:nvSpPr>
        <p:spPr>
          <a:xfrm>
            <a:off x="1542931" y="4574477"/>
            <a:ext cx="91440" cy="1346478"/>
          </a:xfrm>
          <a:prstGeom prst="roundRect">
            <a:avLst>
              <a:gd name="adj" fmla="val 70458"/>
            </a:avLst>
          </a:prstGeom>
          <a:solidFill>
            <a:srgbClr val="4950BC"/>
          </a:solidFill>
          <a:ln/>
        </p:spPr>
        <p:txBody>
          <a:bodyPr/>
          <a:lstStyle/>
          <a:p>
            <a:endParaRPr lang="zh-CN" altLang="en-US"/>
          </a:p>
        </p:txBody>
      </p:sp>
      <p:sp>
        <p:nvSpPr>
          <p:cNvPr id="14" name="Text 12"/>
          <p:cNvSpPr/>
          <p:nvPr/>
        </p:nvSpPr>
        <p:spPr>
          <a:xfrm>
            <a:off x="1810583" y="4750689"/>
            <a:ext cx="2079665" cy="479108"/>
          </a:xfrm>
          <a:prstGeom prst="rect">
            <a:avLst/>
          </a:prstGeom>
          <a:noFill/>
          <a:ln/>
        </p:spPr>
        <p:txBody>
          <a:bodyPr wrap="squar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Horizontal offset dominant</a:t>
            </a:r>
            <a:endParaRPr lang="en-US" sz="1500" dirty="0"/>
          </a:p>
        </p:txBody>
      </p:sp>
      <p:sp>
        <p:nvSpPr>
          <p:cNvPr id="15" name="Text 13"/>
          <p:cNvSpPr/>
          <p:nvPr/>
        </p:nvSpPr>
        <p:spPr>
          <a:xfrm>
            <a:off x="1810583" y="5333500"/>
            <a:ext cx="2079665" cy="411242"/>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dx &gt; 60px → "Move left"; dx &lt; -60px → "Move right"</a:t>
            </a:r>
            <a:endParaRPr lang="en-US" sz="1200" dirty="0"/>
          </a:p>
        </p:txBody>
      </p:sp>
      <p:sp>
        <p:nvSpPr>
          <p:cNvPr id="16" name="Shape 14"/>
          <p:cNvSpPr/>
          <p:nvPr/>
        </p:nvSpPr>
        <p:spPr>
          <a:xfrm>
            <a:off x="4170164" y="4574477"/>
            <a:ext cx="2500670" cy="1346478"/>
          </a:xfrm>
          <a:prstGeom prst="roundRect">
            <a:avLst>
              <a:gd name="adj" fmla="val 8149"/>
            </a:avLst>
          </a:prstGeom>
          <a:solidFill>
            <a:srgbClr val="FFFFFF"/>
          </a:solidFill>
          <a:ln w="22860">
            <a:solidFill>
              <a:srgbClr val="C0C1D7"/>
            </a:solidFill>
            <a:prstDash val="solid"/>
          </a:ln>
        </p:spPr>
        <p:txBody>
          <a:bodyPr/>
          <a:lstStyle/>
          <a:p>
            <a:endParaRPr lang="zh-CN" altLang="en-US"/>
          </a:p>
        </p:txBody>
      </p:sp>
      <p:sp>
        <p:nvSpPr>
          <p:cNvPr id="17" name="Shape 15"/>
          <p:cNvSpPr/>
          <p:nvPr/>
        </p:nvSpPr>
        <p:spPr>
          <a:xfrm>
            <a:off x="4147304" y="4574477"/>
            <a:ext cx="91440" cy="1346478"/>
          </a:xfrm>
          <a:prstGeom prst="roundRect">
            <a:avLst>
              <a:gd name="adj" fmla="val 70458"/>
            </a:avLst>
          </a:prstGeom>
          <a:solidFill>
            <a:srgbClr val="4950BC"/>
          </a:solidFill>
          <a:ln/>
        </p:spPr>
        <p:txBody>
          <a:bodyPr/>
          <a:lstStyle/>
          <a:p>
            <a:endParaRPr lang="zh-CN" altLang="en-US"/>
          </a:p>
        </p:txBody>
      </p:sp>
      <p:sp>
        <p:nvSpPr>
          <p:cNvPr id="18" name="Text 16"/>
          <p:cNvSpPr/>
          <p:nvPr/>
        </p:nvSpPr>
        <p:spPr>
          <a:xfrm>
            <a:off x="4414957" y="4750689"/>
            <a:ext cx="2079665" cy="479108"/>
          </a:xfrm>
          <a:prstGeom prst="rect">
            <a:avLst/>
          </a:prstGeom>
          <a:noFill/>
          <a:ln/>
        </p:spPr>
        <p:txBody>
          <a:bodyPr wrap="squar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Vertical offset dominant</a:t>
            </a:r>
            <a:endParaRPr lang="en-US" sz="1500" dirty="0"/>
          </a:p>
        </p:txBody>
      </p:sp>
      <p:sp>
        <p:nvSpPr>
          <p:cNvPr id="19" name="Text 17"/>
          <p:cNvSpPr/>
          <p:nvPr/>
        </p:nvSpPr>
        <p:spPr>
          <a:xfrm>
            <a:off x="4414957" y="5333500"/>
            <a:ext cx="2079665" cy="411242"/>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dy &gt; 50px → "Move down"; dy &lt; -50px → "Move up"</a:t>
            </a:r>
            <a:endParaRPr lang="en-US" sz="1200" dirty="0"/>
          </a:p>
        </p:txBody>
      </p:sp>
      <p:sp>
        <p:nvSpPr>
          <p:cNvPr id="20" name="Text 18"/>
          <p:cNvSpPr/>
          <p:nvPr/>
        </p:nvSpPr>
        <p:spPr>
          <a:xfrm>
            <a:off x="7509748" y="1879402"/>
            <a:ext cx="2153603" cy="239554"/>
          </a:xfrm>
          <a:prstGeom prst="rect">
            <a:avLst/>
          </a:prstGeom>
          <a:noFill/>
          <a:ln/>
        </p:spPr>
        <p:txBody>
          <a:bodyPr wrap="none" lIns="0" tIns="0" rIns="0" bIns="0" rtlCol="0" anchor="t"/>
          <a:lstStyle/>
          <a:p>
            <a:pPr marL="0" indent="0" algn="l">
              <a:lnSpc>
                <a:spcPts val="1850"/>
              </a:lnSpc>
              <a:buNone/>
            </a:pPr>
            <a:r>
              <a:rPr lang="en-US" sz="1500" b="1" dirty="0">
                <a:solidFill>
                  <a:srgbClr val="000000"/>
                </a:solidFill>
                <a:latin typeface="Inter Bold" pitchFamily="34" charset="0"/>
                <a:ea typeface="Inter Bold" pitchFamily="34" charset="-122"/>
                <a:cs typeface="Inter Bold" pitchFamily="34" charset="-120"/>
              </a:rPr>
              <a:t>Voice Interaction Layer</a:t>
            </a:r>
            <a:endParaRPr lang="en-US" sz="1500" dirty="0"/>
          </a:p>
        </p:txBody>
      </p:sp>
      <p:sp>
        <p:nvSpPr>
          <p:cNvPr id="21" name="Text 19"/>
          <p:cNvSpPr/>
          <p:nvPr/>
        </p:nvSpPr>
        <p:spPr>
          <a:xfrm>
            <a:off x="7509748" y="2235637"/>
            <a:ext cx="153353" cy="191691"/>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Inter Light" pitchFamily="34" charset="0"/>
                <a:ea typeface="Inter Light" pitchFamily="34" charset="-122"/>
                <a:cs typeface="Inter Light" pitchFamily="34" charset="-120"/>
              </a:rPr>
              <a:t>01</a:t>
            </a:r>
            <a:endParaRPr lang="en-US" sz="1200" dirty="0"/>
          </a:p>
        </p:txBody>
      </p:sp>
      <p:sp>
        <p:nvSpPr>
          <p:cNvPr id="22" name="Shape 20"/>
          <p:cNvSpPr/>
          <p:nvPr/>
        </p:nvSpPr>
        <p:spPr>
          <a:xfrm>
            <a:off x="7509748" y="2473404"/>
            <a:ext cx="5105043" cy="22860"/>
          </a:xfrm>
          <a:prstGeom prst="rect">
            <a:avLst/>
          </a:prstGeom>
          <a:solidFill>
            <a:srgbClr val="4950BC"/>
          </a:solidFill>
          <a:ln/>
        </p:spPr>
        <p:txBody>
          <a:bodyPr/>
          <a:lstStyle/>
          <a:p>
            <a:endParaRPr lang="zh-CN" altLang="en-US"/>
          </a:p>
        </p:txBody>
      </p:sp>
      <p:sp>
        <p:nvSpPr>
          <p:cNvPr id="23" name="Text 21"/>
          <p:cNvSpPr/>
          <p:nvPr/>
        </p:nvSpPr>
        <p:spPr>
          <a:xfrm>
            <a:off x="7509748" y="2595801"/>
            <a:ext cx="1917382" cy="239554"/>
          </a:xfrm>
          <a:prstGeom prst="rect">
            <a:avLst/>
          </a:prstGeom>
          <a:noFill/>
          <a:ln/>
        </p:spPr>
        <p:txBody>
          <a:bodyPr wrap="non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STT (Whisper)</a:t>
            </a:r>
            <a:endParaRPr lang="en-US" sz="1500" dirty="0"/>
          </a:p>
        </p:txBody>
      </p:sp>
      <p:sp>
        <p:nvSpPr>
          <p:cNvPr id="24" name="Text 22"/>
          <p:cNvSpPr/>
          <p:nvPr/>
        </p:nvSpPr>
        <p:spPr>
          <a:xfrm>
            <a:off x="7509748" y="2939058"/>
            <a:ext cx="5105043" cy="205621"/>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16kHz recording, CLI preferred, fallback to Python API</a:t>
            </a:r>
            <a:endParaRPr lang="en-US" sz="1200" dirty="0"/>
          </a:p>
        </p:txBody>
      </p:sp>
      <p:sp>
        <p:nvSpPr>
          <p:cNvPr id="25" name="Text 23"/>
          <p:cNvSpPr/>
          <p:nvPr/>
        </p:nvSpPr>
        <p:spPr>
          <a:xfrm>
            <a:off x="7509748" y="3363397"/>
            <a:ext cx="153353" cy="191691"/>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Inter Light" pitchFamily="34" charset="0"/>
                <a:ea typeface="Inter Light" pitchFamily="34" charset="-122"/>
                <a:cs typeface="Inter Light" pitchFamily="34" charset="-120"/>
              </a:rPr>
              <a:t>02</a:t>
            </a:r>
            <a:endParaRPr lang="en-US" sz="1200" dirty="0"/>
          </a:p>
        </p:txBody>
      </p:sp>
      <p:sp>
        <p:nvSpPr>
          <p:cNvPr id="26" name="Shape 24"/>
          <p:cNvSpPr/>
          <p:nvPr/>
        </p:nvSpPr>
        <p:spPr>
          <a:xfrm>
            <a:off x="7509748" y="3601164"/>
            <a:ext cx="5105043" cy="22860"/>
          </a:xfrm>
          <a:prstGeom prst="rect">
            <a:avLst/>
          </a:prstGeom>
          <a:solidFill>
            <a:srgbClr val="4950BC"/>
          </a:solidFill>
          <a:ln/>
        </p:spPr>
        <p:txBody>
          <a:bodyPr/>
          <a:lstStyle/>
          <a:p>
            <a:endParaRPr lang="zh-CN" altLang="en-US"/>
          </a:p>
        </p:txBody>
      </p:sp>
      <p:sp>
        <p:nvSpPr>
          <p:cNvPr id="27" name="Text 25"/>
          <p:cNvSpPr/>
          <p:nvPr/>
        </p:nvSpPr>
        <p:spPr>
          <a:xfrm>
            <a:off x="7509748" y="3723561"/>
            <a:ext cx="1927741" cy="239554"/>
          </a:xfrm>
          <a:prstGeom prst="rect">
            <a:avLst/>
          </a:prstGeom>
          <a:noFill/>
          <a:ln/>
        </p:spPr>
        <p:txBody>
          <a:bodyPr wrap="non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NLU (Rule Matching)</a:t>
            </a:r>
            <a:endParaRPr lang="en-US" sz="1500" dirty="0"/>
          </a:p>
        </p:txBody>
      </p:sp>
      <p:sp>
        <p:nvSpPr>
          <p:cNvPr id="28" name="Text 26"/>
          <p:cNvSpPr/>
          <p:nvPr/>
        </p:nvSpPr>
        <p:spPr>
          <a:xfrm>
            <a:off x="7509748" y="4066818"/>
            <a:ext cx="5105043" cy="411242"/>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Four intent types: scene description / target selection / direction query / grasp confirmation</a:t>
            </a:r>
            <a:endParaRPr lang="en-US" sz="1200" dirty="0"/>
          </a:p>
        </p:txBody>
      </p:sp>
      <p:sp>
        <p:nvSpPr>
          <p:cNvPr id="29" name="Text 27"/>
          <p:cNvSpPr/>
          <p:nvPr/>
        </p:nvSpPr>
        <p:spPr>
          <a:xfrm>
            <a:off x="7509748" y="4696778"/>
            <a:ext cx="153353" cy="191691"/>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Inter Light" pitchFamily="34" charset="0"/>
                <a:ea typeface="Inter Light" pitchFamily="34" charset="-122"/>
                <a:cs typeface="Inter Light" pitchFamily="34" charset="-120"/>
              </a:rPr>
              <a:t>03</a:t>
            </a:r>
            <a:endParaRPr lang="en-US" sz="1200" dirty="0"/>
          </a:p>
        </p:txBody>
      </p:sp>
      <p:sp>
        <p:nvSpPr>
          <p:cNvPr id="30" name="Shape 28"/>
          <p:cNvSpPr/>
          <p:nvPr/>
        </p:nvSpPr>
        <p:spPr>
          <a:xfrm>
            <a:off x="7509748" y="4934545"/>
            <a:ext cx="5105043" cy="22860"/>
          </a:xfrm>
          <a:prstGeom prst="rect">
            <a:avLst/>
          </a:prstGeom>
          <a:solidFill>
            <a:srgbClr val="4950BC"/>
          </a:solidFill>
          <a:ln/>
        </p:spPr>
        <p:txBody>
          <a:bodyPr/>
          <a:lstStyle/>
          <a:p>
            <a:endParaRPr lang="zh-CN" altLang="en-US"/>
          </a:p>
        </p:txBody>
      </p:sp>
      <p:sp>
        <p:nvSpPr>
          <p:cNvPr id="31" name="Text 29"/>
          <p:cNvSpPr/>
          <p:nvPr/>
        </p:nvSpPr>
        <p:spPr>
          <a:xfrm>
            <a:off x="7509748" y="5056942"/>
            <a:ext cx="1917382" cy="239554"/>
          </a:xfrm>
          <a:prstGeom prst="rect">
            <a:avLst/>
          </a:prstGeom>
          <a:noFill/>
          <a:ln/>
        </p:spPr>
        <p:txBody>
          <a:bodyPr wrap="non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TTS Output</a:t>
            </a:r>
            <a:endParaRPr lang="en-US" sz="1500" dirty="0"/>
          </a:p>
        </p:txBody>
      </p:sp>
      <p:sp>
        <p:nvSpPr>
          <p:cNvPr id="32" name="Text 30"/>
          <p:cNvSpPr/>
          <p:nvPr/>
        </p:nvSpPr>
        <p:spPr>
          <a:xfrm>
            <a:off x="7509748" y="5400199"/>
            <a:ext cx="5105043" cy="205621"/>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pyttsx3 → MiniMax API → macOS say, 1.2-second cooldown</a:t>
            </a:r>
            <a:endParaRPr lang="en-US" sz="1200" dirty="0"/>
          </a:p>
        </p:txBody>
      </p:sp>
      <p:sp>
        <p:nvSpPr>
          <p:cNvPr id="33" name="Shape 31"/>
          <p:cNvSpPr/>
          <p:nvPr/>
        </p:nvSpPr>
        <p:spPr>
          <a:xfrm>
            <a:off x="7509748" y="5837515"/>
            <a:ext cx="5105043" cy="1134547"/>
          </a:xfrm>
          <a:prstGeom prst="roundRect">
            <a:avLst>
              <a:gd name="adj" fmla="val 5679"/>
            </a:avLst>
          </a:prstGeom>
          <a:solidFill>
            <a:srgbClr val="C7C9EA"/>
          </a:solidFill>
          <a:ln/>
        </p:spPr>
        <p:txBody>
          <a:bodyPr/>
          <a:lstStyle/>
          <a:p>
            <a:endParaRPr lang="zh-CN" altLang="en-US"/>
          </a:p>
        </p:txBody>
      </p:sp>
      <p:pic>
        <p:nvPicPr>
          <p:cNvPr id="34" name="Image 0" descr="preencoded.png"/>
          <p:cNvPicPr>
            <a:picLocks noChangeAspect="1"/>
          </p:cNvPicPr>
          <p:nvPr/>
        </p:nvPicPr>
        <p:blipFill>
          <a:blip r:embed="rId3"/>
          <a:stretch>
            <a:fillRect/>
          </a:stretch>
        </p:blipFill>
        <p:spPr>
          <a:xfrm>
            <a:off x="7663101" y="6047422"/>
            <a:ext cx="191691" cy="153352"/>
          </a:xfrm>
          <a:prstGeom prst="rect">
            <a:avLst/>
          </a:prstGeom>
        </p:spPr>
      </p:pic>
      <p:sp>
        <p:nvSpPr>
          <p:cNvPr id="35" name="Text 32"/>
          <p:cNvSpPr/>
          <p:nvPr/>
        </p:nvSpPr>
        <p:spPr>
          <a:xfrm>
            <a:off x="8008144" y="5979557"/>
            <a:ext cx="4453295" cy="822484"/>
          </a:xfrm>
          <a:prstGeom prst="rect">
            <a:avLst/>
          </a:prstGeom>
          <a:noFill/>
          <a:ln/>
        </p:spPr>
        <p:txBody>
          <a:bodyPr wrap="square" lIns="0" tIns="0" rIns="0" bIns="0" rtlCol="0" anchor="t"/>
          <a:lstStyle/>
          <a:p>
            <a:pPr marL="0" indent="0" algn="l">
              <a:lnSpc>
                <a:spcPts val="1600"/>
              </a:lnSpc>
              <a:buNone/>
            </a:pPr>
            <a:r>
              <a:rPr lang="en-US" sz="1200" b="1" dirty="0">
                <a:solidFill>
                  <a:srgbClr val="000000"/>
                </a:solidFill>
                <a:latin typeface="Inter" pitchFamily="34" charset="0"/>
                <a:ea typeface="Inter" pitchFamily="34" charset="-122"/>
                <a:cs typeface="Inter" pitchFamily="34" charset="-120"/>
              </a:rPr>
              <a:t>Stability filtering:</a:t>
            </a:r>
            <a:r>
              <a:rPr lang="en-US" sz="1200" dirty="0">
                <a:solidFill>
                  <a:srgbClr val="000000"/>
                </a:solidFill>
                <a:latin typeface="Inter" pitchFamily="34" charset="0"/>
                <a:ea typeface="Inter" pitchFamily="34" charset="-122"/>
                <a:cs typeface="Inter" pitchFamily="34" charset="-120"/>
              </a:rPr>
              <a:t> Maintain a command queue of length 4; only when the same command is consistent for 4 consecutive frames is it marked as "stable", effectively suppressing command jitter caused by detection noise.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18279" y="1583412"/>
            <a:ext cx="6214824" cy="462796"/>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Inter Bold" pitchFamily="34" charset="0"/>
                <a:ea typeface="Inter Bold" pitchFamily="34" charset="-122"/>
                <a:cs typeface="Inter Bold" pitchFamily="34" charset="-120"/>
              </a:rPr>
              <a:t>System Implementation Highlights</a:t>
            </a:r>
            <a:endParaRPr lang="en-US" sz="2900" dirty="0"/>
          </a:p>
        </p:txBody>
      </p:sp>
      <p:sp>
        <p:nvSpPr>
          <p:cNvPr id="4" name="Shape 1"/>
          <p:cNvSpPr/>
          <p:nvPr/>
        </p:nvSpPr>
        <p:spPr>
          <a:xfrm>
            <a:off x="518279" y="2191226"/>
            <a:ext cx="8107442" cy="1188125"/>
          </a:xfrm>
          <a:prstGeom prst="roundRect">
            <a:avLst>
              <a:gd name="adj" fmla="val 5236"/>
            </a:avLst>
          </a:prstGeom>
          <a:solidFill>
            <a:srgbClr val="DADBF1"/>
          </a:solidFill>
          <a:ln w="7620">
            <a:solidFill>
              <a:srgbClr val="C0C1D7"/>
            </a:solidFill>
            <a:prstDash val="solid"/>
          </a:ln>
        </p:spPr>
        <p:txBody>
          <a:bodyPr/>
          <a:lstStyle/>
          <a:p>
            <a:endParaRPr lang="zh-CN" altLang="en-US"/>
          </a:p>
        </p:txBody>
      </p:sp>
      <p:sp>
        <p:nvSpPr>
          <p:cNvPr id="5" name="Text 2"/>
          <p:cNvSpPr/>
          <p:nvPr/>
        </p:nvSpPr>
        <p:spPr>
          <a:xfrm>
            <a:off x="673894" y="2346841"/>
            <a:ext cx="1851303" cy="231338"/>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Inter Bold" pitchFamily="34" charset="0"/>
                <a:ea typeface="Inter Bold" pitchFamily="34" charset="-122"/>
                <a:cs typeface="Inter Bold" pitchFamily="34" charset="-120"/>
              </a:rPr>
              <a:t>Pipeline Scheduling</a:t>
            </a:r>
            <a:endParaRPr lang="en-US" sz="1450" dirty="0"/>
          </a:p>
        </p:txBody>
      </p:sp>
      <p:sp>
        <p:nvSpPr>
          <p:cNvPr id="6" name="Text 3"/>
          <p:cNvSpPr/>
          <p:nvPr/>
        </p:nvSpPr>
        <p:spPr>
          <a:xfrm>
            <a:off x="673894" y="2636163"/>
            <a:ext cx="7796212" cy="587573"/>
          </a:xfrm>
          <a:prstGeom prst="rect">
            <a:avLst/>
          </a:prstGeom>
          <a:noFill/>
          <a:ln/>
        </p:spPr>
        <p:txBody>
          <a:bodyPr wrap="square" lIns="0" tIns="0" rIns="0" bIns="0" rtlCol="0" anchor="t"/>
          <a:lstStyle/>
          <a:p>
            <a:pPr marL="0" indent="0" algn="l">
              <a:lnSpc>
                <a:spcPts val="1500"/>
              </a:lnSpc>
              <a:buNone/>
            </a:pPr>
            <a:r>
              <a:rPr lang="en-US" sz="1150" dirty="0">
                <a:solidFill>
                  <a:srgbClr val="272525"/>
                </a:solidFill>
                <a:latin typeface="Inter" pitchFamily="34" charset="0"/>
                <a:ea typeface="Inter" pitchFamily="34" charset="-122"/>
                <a:cs typeface="Inter" pitchFamily="34" charset="-120"/>
              </a:rPr>
              <a:t>QuerySnapshotPipeline sequentially executes the three perception modules, stores the results in snapshots, and submits them to the baseline recorder. The camera loop runs at the native frame rate (target 960×540), and the speech layer responds asynchronously to key events.</a:t>
            </a:r>
            <a:endParaRPr lang="en-US" sz="1150" dirty="0"/>
          </a:p>
        </p:txBody>
      </p:sp>
      <p:sp>
        <p:nvSpPr>
          <p:cNvPr id="7" name="Shape 4"/>
          <p:cNvSpPr/>
          <p:nvPr/>
        </p:nvSpPr>
        <p:spPr>
          <a:xfrm>
            <a:off x="518279" y="3476030"/>
            <a:ext cx="8107442" cy="992267"/>
          </a:xfrm>
          <a:prstGeom prst="roundRect">
            <a:avLst>
              <a:gd name="adj" fmla="val 6269"/>
            </a:avLst>
          </a:prstGeom>
          <a:solidFill>
            <a:srgbClr val="DADBF1"/>
          </a:solidFill>
          <a:ln w="7620">
            <a:solidFill>
              <a:srgbClr val="C0C1D7"/>
            </a:solidFill>
            <a:prstDash val="solid"/>
          </a:ln>
        </p:spPr>
        <p:txBody>
          <a:bodyPr/>
          <a:lstStyle/>
          <a:p>
            <a:endParaRPr lang="zh-CN" altLang="en-US"/>
          </a:p>
        </p:txBody>
      </p:sp>
      <p:sp>
        <p:nvSpPr>
          <p:cNvPr id="8" name="Text 5"/>
          <p:cNvSpPr/>
          <p:nvPr/>
        </p:nvSpPr>
        <p:spPr>
          <a:xfrm>
            <a:off x="673894" y="3631644"/>
            <a:ext cx="2056805" cy="231338"/>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Inter Bold" pitchFamily="34" charset="0"/>
                <a:ea typeface="Inter Bold" pitchFamily="34" charset="-122"/>
                <a:cs typeface="Inter Bold" pitchFamily="34" charset="-120"/>
              </a:rPr>
              <a:t>Runtime Hot Switching</a:t>
            </a:r>
            <a:endParaRPr lang="en-US" sz="1450" dirty="0"/>
          </a:p>
        </p:txBody>
      </p:sp>
      <p:sp>
        <p:nvSpPr>
          <p:cNvPr id="9" name="Text 6"/>
          <p:cNvSpPr/>
          <p:nvPr/>
        </p:nvSpPr>
        <p:spPr>
          <a:xfrm>
            <a:off x="673894" y="3920966"/>
            <a:ext cx="7796212" cy="391716"/>
          </a:xfrm>
          <a:prstGeom prst="rect">
            <a:avLst/>
          </a:prstGeom>
          <a:noFill/>
          <a:ln/>
        </p:spPr>
        <p:txBody>
          <a:bodyPr wrap="square" lIns="0" tIns="0" rIns="0" bIns="0" rtlCol="0" anchor="t"/>
          <a:lstStyle/>
          <a:p>
            <a:pPr marL="0" indent="0" algn="l">
              <a:lnSpc>
                <a:spcPts val="1500"/>
              </a:lnSpc>
              <a:buNone/>
            </a:pPr>
            <a:r>
              <a:rPr lang="en-US" sz="1150" dirty="0">
                <a:solidFill>
                  <a:srgbClr val="272525"/>
                </a:solidFill>
                <a:latin typeface="Inter" pitchFamily="34" charset="0"/>
                <a:ea typeface="Inter" pitchFamily="34" charset="-122"/>
                <a:cs typeface="Inter" pitchFamily="34" charset="-120"/>
              </a:rPr>
              <a:t>Keys 1/2/3 cycle through the detector, hand tracker, and depth estimator backends respectively. New instances are created in place, and the pipeline continues running without interruption.</a:t>
            </a:r>
            <a:endParaRPr lang="en-US" sz="1150" dirty="0"/>
          </a:p>
        </p:txBody>
      </p:sp>
      <p:sp>
        <p:nvSpPr>
          <p:cNvPr id="10" name="Shape 7"/>
          <p:cNvSpPr/>
          <p:nvPr/>
        </p:nvSpPr>
        <p:spPr>
          <a:xfrm>
            <a:off x="518279" y="4564975"/>
            <a:ext cx="8107442" cy="992267"/>
          </a:xfrm>
          <a:prstGeom prst="roundRect">
            <a:avLst>
              <a:gd name="adj" fmla="val 6269"/>
            </a:avLst>
          </a:prstGeom>
          <a:solidFill>
            <a:srgbClr val="DADBF1"/>
          </a:solidFill>
          <a:ln w="7620">
            <a:solidFill>
              <a:srgbClr val="C0C1D7"/>
            </a:solidFill>
            <a:prstDash val="solid"/>
          </a:ln>
        </p:spPr>
        <p:txBody>
          <a:bodyPr/>
          <a:lstStyle/>
          <a:p>
            <a:endParaRPr lang="zh-CN" altLang="en-US"/>
          </a:p>
        </p:txBody>
      </p:sp>
      <p:sp>
        <p:nvSpPr>
          <p:cNvPr id="11" name="Text 8"/>
          <p:cNvSpPr/>
          <p:nvPr/>
        </p:nvSpPr>
        <p:spPr>
          <a:xfrm>
            <a:off x="673894" y="4720590"/>
            <a:ext cx="2639854" cy="231338"/>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Inter Bold" pitchFamily="34" charset="0"/>
                <a:ea typeface="Inter Bold" pitchFamily="34" charset="-122"/>
                <a:cs typeface="Inter Bold" pitchFamily="34" charset="-120"/>
              </a:rPr>
              <a:t>Performance Overlay Display</a:t>
            </a:r>
            <a:endParaRPr lang="en-US" sz="1450" dirty="0"/>
          </a:p>
        </p:txBody>
      </p:sp>
      <p:sp>
        <p:nvSpPr>
          <p:cNvPr id="12" name="Text 9"/>
          <p:cNvSpPr/>
          <p:nvPr/>
        </p:nvSpPr>
        <p:spPr>
          <a:xfrm>
            <a:off x="673894" y="5009912"/>
            <a:ext cx="7796212" cy="391716"/>
          </a:xfrm>
          <a:prstGeom prst="rect">
            <a:avLst/>
          </a:prstGeom>
          <a:noFill/>
          <a:ln/>
        </p:spPr>
        <p:txBody>
          <a:bodyPr wrap="square" lIns="0" tIns="0" rIns="0" bIns="0" rtlCol="0" anchor="t"/>
          <a:lstStyle/>
          <a:p>
            <a:pPr marL="0" indent="0" algn="l">
              <a:lnSpc>
                <a:spcPts val="1500"/>
              </a:lnSpc>
              <a:buNone/>
            </a:pPr>
            <a:r>
              <a:rPr lang="en-US" sz="1150" dirty="0">
                <a:solidFill>
                  <a:srgbClr val="272525"/>
                </a:solidFill>
                <a:latin typeface="Inter" pitchFamily="34" charset="0"/>
                <a:ea typeface="Inter" pitchFamily="34" charset="-122"/>
                <a:cs typeface="Inter" pitchFamily="34" charset="-120"/>
              </a:rPr>
              <a:t>The live video window displays detection boxes, hand skeletons, direction guidance arrows, and four rows of performance metrics, using exponential moving average (α=0.1) to smooth updates.</a:t>
            </a:r>
            <a:endParaRPr lang="en-US" sz="1150" dirty="0"/>
          </a:p>
        </p:txBody>
      </p:sp>
      <p:sp>
        <p:nvSpPr>
          <p:cNvPr id="13" name="Shape 10"/>
          <p:cNvSpPr/>
          <p:nvPr/>
        </p:nvSpPr>
        <p:spPr>
          <a:xfrm>
            <a:off x="518279" y="5653921"/>
            <a:ext cx="8107442" cy="992267"/>
          </a:xfrm>
          <a:prstGeom prst="roundRect">
            <a:avLst>
              <a:gd name="adj" fmla="val 6269"/>
            </a:avLst>
          </a:prstGeom>
          <a:solidFill>
            <a:srgbClr val="DADBF1"/>
          </a:solidFill>
          <a:ln w="7620">
            <a:solidFill>
              <a:srgbClr val="C0C1D7"/>
            </a:solidFill>
            <a:prstDash val="solid"/>
          </a:ln>
        </p:spPr>
        <p:txBody>
          <a:bodyPr/>
          <a:lstStyle/>
          <a:p>
            <a:endParaRPr lang="zh-CN" altLang="en-US"/>
          </a:p>
        </p:txBody>
      </p:sp>
      <p:sp>
        <p:nvSpPr>
          <p:cNvPr id="14" name="Text 11"/>
          <p:cNvSpPr/>
          <p:nvPr/>
        </p:nvSpPr>
        <p:spPr>
          <a:xfrm>
            <a:off x="673894" y="5809536"/>
            <a:ext cx="1851303" cy="231338"/>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Inter Bold" pitchFamily="34" charset="0"/>
                <a:ea typeface="Inter Bold" pitchFamily="34" charset="-122"/>
                <a:cs typeface="Inter Bold" pitchFamily="34" charset="-120"/>
              </a:rPr>
              <a:t>Test Coverage</a:t>
            </a:r>
            <a:endParaRPr lang="en-US" sz="1450" dirty="0"/>
          </a:p>
        </p:txBody>
      </p:sp>
      <p:sp>
        <p:nvSpPr>
          <p:cNvPr id="15" name="Text 12"/>
          <p:cNvSpPr/>
          <p:nvPr/>
        </p:nvSpPr>
        <p:spPr>
          <a:xfrm>
            <a:off x="673894" y="6098857"/>
            <a:ext cx="7796212" cy="391716"/>
          </a:xfrm>
          <a:prstGeom prst="rect">
            <a:avLst/>
          </a:prstGeom>
          <a:noFill/>
          <a:ln/>
        </p:spPr>
        <p:txBody>
          <a:bodyPr wrap="square" lIns="0" tIns="0" rIns="0" bIns="0" rtlCol="0" anchor="t"/>
          <a:lstStyle/>
          <a:p>
            <a:pPr marL="0" indent="0" algn="l">
              <a:lnSpc>
                <a:spcPts val="1500"/>
              </a:lnSpc>
              <a:buNone/>
            </a:pPr>
            <a:r>
              <a:rPr lang="en-US" sz="1150" dirty="0">
                <a:solidFill>
                  <a:srgbClr val="272525"/>
                </a:solidFill>
                <a:latin typeface="Inter" pitchFamily="34" charset="0"/>
                <a:ea typeface="Inter" pitchFamily="34" charset="-122"/>
                <a:cs typeface="Inter" pitchFamily="34" charset="-120"/>
              </a:rPr>
              <a:t>7 test modules cover core components such as config, geometry, NLU, guidance, and pipeline, with a pytest coverage threshold of ≥80%.</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256705" y="1032153"/>
            <a:ext cx="5752028" cy="548640"/>
          </a:xfrm>
          <a:prstGeom prst="rect">
            <a:avLst/>
          </a:prstGeom>
          <a:noFill/>
          <a:ln/>
        </p:spPr>
        <p:txBody>
          <a:bodyPr wrap="none" lIns="0" tIns="0" rIns="0" bIns="0" rtlCol="0" anchor="t"/>
          <a:lstStyle/>
          <a:p>
            <a:pPr marL="0" indent="0" algn="l">
              <a:lnSpc>
                <a:spcPts val="4300"/>
              </a:lnSpc>
              <a:buNone/>
            </a:pPr>
            <a:r>
              <a:rPr lang="en-US" sz="3450" b="1" dirty="0">
                <a:solidFill>
                  <a:srgbClr val="000000"/>
                </a:solidFill>
                <a:latin typeface="Inter Bold" pitchFamily="34" charset="0"/>
                <a:ea typeface="Inter Bold" pitchFamily="34" charset="-122"/>
                <a:cs typeface="Inter Bold" pitchFamily="34" charset="-120"/>
              </a:rPr>
              <a:t>Discussion and Limitations</a:t>
            </a:r>
            <a:endParaRPr lang="en-US" sz="3450" dirty="0"/>
          </a:p>
        </p:txBody>
      </p:sp>
      <p:sp>
        <p:nvSpPr>
          <p:cNvPr id="3" name="Text 1"/>
          <p:cNvSpPr/>
          <p:nvPr/>
        </p:nvSpPr>
        <p:spPr>
          <a:xfrm>
            <a:off x="1256705" y="4366379"/>
            <a:ext cx="5844302" cy="249198"/>
          </a:xfrm>
          <a:prstGeom prst="rect">
            <a:avLst/>
          </a:prstGeom>
          <a:noFill/>
          <a:ln/>
        </p:spPr>
        <p:txBody>
          <a:bodyPr wrap="none" lIns="0" tIns="0" rIns="0" bIns="0" rtlCol="0" anchor="t"/>
          <a:lstStyle/>
          <a:p>
            <a:pPr marL="0" indent="0" algn="l">
              <a:lnSpc>
                <a:spcPts val="1950"/>
              </a:lnSpc>
              <a:buNone/>
            </a:pPr>
            <a:endParaRPr lang="en-US" sz="1350" dirty="0"/>
          </a:p>
        </p:txBody>
      </p:sp>
      <p:sp>
        <p:nvSpPr>
          <p:cNvPr id="4" name="Text 2"/>
          <p:cNvSpPr/>
          <p:nvPr/>
        </p:nvSpPr>
        <p:spPr>
          <a:xfrm>
            <a:off x="7537013" y="1920478"/>
            <a:ext cx="2860358" cy="274439"/>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Inter Bold" pitchFamily="34" charset="0"/>
                <a:ea typeface="Inter Bold" pitchFamily="34" charset="-122"/>
                <a:cs typeface="Inter Bold" pitchFamily="34" charset="-120"/>
              </a:rPr>
              <a:t>Core Technical Challenges</a:t>
            </a:r>
            <a:endParaRPr lang="en-US" sz="1700" dirty="0"/>
          </a:p>
        </p:txBody>
      </p:sp>
      <p:sp>
        <p:nvSpPr>
          <p:cNvPr id="5" name="Shape 3"/>
          <p:cNvSpPr/>
          <p:nvPr/>
        </p:nvSpPr>
        <p:spPr>
          <a:xfrm>
            <a:off x="7537013" y="2347793"/>
            <a:ext cx="395049" cy="395049"/>
          </a:xfrm>
          <a:prstGeom prst="roundRect">
            <a:avLst>
              <a:gd name="adj" fmla="val 18670"/>
            </a:avLst>
          </a:prstGeom>
          <a:solidFill>
            <a:srgbClr val="DADBF1"/>
          </a:solidFill>
          <a:ln w="7620">
            <a:solidFill>
              <a:srgbClr val="C0C1D7"/>
            </a:solidFill>
            <a:prstDash val="solid"/>
          </a:ln>
        </p:spPr>
        <p:txBody>
          <a:bodyPr/>
          <a:lstStyle/>
          <a:p>
            <a:endParaRPr lang="zh-CN" altLang="en-US"/>
          </a:p>
        </p:txBody>
      </p:sp>
      <p:sp>
        <p:nvSpPr>
          <p:cNvPr id="6" name="Text 4"/>
          <p:cNvSpPr/>
          <p:nvPr/>
        </p:nvSpPr>
        <p:spPr>
          <a:xfrm>
            <a:off x="8067913" y="2408158"/>
            <a:ext cx="3129915" cy="274439"/>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Monocular depth uncertainty</a:t>
            </a:r>
            <a:endParaRPr lang="en-US" sz="1700" dirty="0"/>
          </a:p>
        </p:txBody>
      </p:sp>
      <p:sp>
        <p:nvSpPr>
          <p:cNvPr id="7" name="Text 5"/>
          <p:cNvSpPr/>
          <p:nvPr/>
        </p:nvSpPr>
        <p:spPr>
          <a:xfrm>
            <a:off x="8067913" y="2818448"/>
            <a:ext cx="5313402" cy="1245989"/>
          </a:xfrm>
          <a:prstGeom prst="rect">
            <a:avLst/>
          </a:prstGeom>
          <a:noFill/>
          <a:ln/>
        </p:spPr>
        <p:txBody>
          <a:bodyPr wrap="square" lIns="0" tIns="0" rIns="0" bIns="0" rtlCol="0" anchor="t"/>
          <a:lstStyle/>
          <a:p>
            <a:pPr marL="0" indent="0" algn="l">
              <a:lnSpc>
                <a:spcPts val="1950"/>
              </a:lnSpc>
              <a:buNone/>
            </a:pPr>
            <a:r>
              <a:rPr lang="en-US" sz="1350" dirty="0">
                <a:solidFill>
                  <a:srgbClr val="272525"/>
                </a:solidFill>
                <a:latin typeface="Inter" pitchFamily="34" charset="0"/>
                <a:ea typeface="Inter" pitchFamily="34" charset="-122"/>
                <a:cs typeface="Inter" pitchFamily="34" charset="-120"/>
              </a:rPr>
              <a:t>MiDaS outputs relative inverse depth, and the current calibration is a heuristic solution that may become inaccurate at different camera angles or distances. Stereo cameras or structured light sensors could fundamentally solve this problem.</a:t>
            </a:r>
            <a:endParaRPr lang="en-US" sz="1350" dirty="0"/>
          </a:p>
        </p:txBody>
      </p:sp>
      <p:sp>
        <p:nvSpPr>
          <p:cNvPr id="8" name="Shape 6"/>
          <p:cNvSpPr/>
          <p:nvPr/>
        </p:nvSpPr>
        <p:spPr>
          <a:xfrm>
            <a:off x="7537013" y="4336256"/>
            <a:ext cx="395049" cy="395049"/>
          </a:xfrm>
          <a:prstGeom prst="roundRect">
            <a:avLst>
              <a:gd name="adj" fmla="val 18670"/>
            </a:avLst>
          </a:prstGeom>
          <a:solidFill>
            <a:srgbClr val="DADBF1"/>
          </a:solidFill>
          <a:ln w="7620">
            <a:solidFill>
              <a:srgbClr val="C0C1D7"/>
            </a:solidFill>
            <a:prstDash val="solid"/>
          </a:ln>
        </p:spPr>
        <p:txBody>
          <a:bodyPr/>
          <a:lstStyle/>
          <a:p>
            <a:endParaRPr lang="zh-CN" altLang="en-US"/>
          </a:p>
        </p:txBody>
      </p:sp>
      <p:sp>
        <p:nvSpPr>
          <p:cNvPr id="9" name="Text 7"/>
          <p:cNvSpPr/>
          <p:nvPr/>
        </p:nvSpPr>
        <p:spPr>
          <a:xfrm>
            <a:off x="8067913" y="4396621"/>
            <a:ext cx="2219087" cy="274439"/>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Fixed pixel threshold</a:t>
            </a:r>
            <a:endParaRPr lang="en-US" sz="1700" dirty="0"/>
          </a:p>
        </p:txBody>
      </p:sp>
      <p:sp>
        <p:nvSpPr>
          <p:cNvPr id="10" name="Text 8"/>
          <p:cNvSpPr/>
          <p:nvPr/>
        </p:nvSpPr>
        <p:spPr>
          <a:xfrm>
            <a:off x="8067913" y="4806910"/>
            <a:ext cx="5313402" cy="747593"/>
          </a:xfrm>
          <a:prstGeom prst="rect">
            <a:avLst/>
          </a:prstGeom>
          <a:noFill/>
          <a:ln/>
        </p:spPr>
        <p:txBody>
          <a:bodyPr wrap="square" lIns="0" tIns="0" rIns="0" bIns="0" rtlCol="0" anchor="t"/>
          <a:lstStyle/>
          <a:p>
            <a:pPr marL="0" indent="0" algn="l">
              <a:lnSpc>
                <a:spcPts val="1950"/>
              </a:lnSpc>
              <a:buNone/>
            </a:pPr>
            <a:r>
              <a:rPr lang="en-US" sz="1350" dirty="0">
                <a:solidFill>
                  <a:srgbClr val="272525"/>
                </a:solidFill>
                <a:latin typeface="Inter" pitchFamily="34" charset="0"/>
                <a:ea typeface="Inter" pitchFamily="34" charset="-122"/>
                <a:cs typeface="Inter" pitchFamily="34" charset="-120"/>
              </a:rPr>
              <a:t>The 120px near threshold was tuned for a fixed camera distance. A dynamic threshold adapted based on bounding box size is a possible improvement direction.</a:t>
            </a:r>
            <a:endParaRPr lang="en-US" sz="1350" dirty="0"/>
          </a:p>
        </p:txBody>
      </p:sp>
      <p:sp>
        <p:nvSpPr>
          <p:cNvPr id="11" name="Shape 9"/>
          <p:cNvSpPr/>
          <p:nvPr/>
        </p:nvSpPr>
        <p:spPr>
          <a:xfrm>
            <a:off x="7537013" y="5826323"/>
            <a:ext cx="395049" cy="395049"/>
          </a:xfrm>
          <a:prstGeom prst="roundRect">
            <a:avLst>
              <a:gd name="adj" fmla="val 18670"/>
            </a:avLst>
          </a:prstGeom>
          <a:solidFill>
            <a:srgbClr val="DADBF1"/>
          </a:solidFill>
          <a:ln w="7620">
            <a:solidFill>
              <a:srgbClr val="C0C1D7"/>
            </a:solidFill>
            <a:prstDash val="solid"/>
          </a:ln>
        </p:spPr>
        <p:txBody>
          <a:bodyPr/>
          <a:lstStyle/>
          <a:p>
            <a:endParaRPr lang="zh-CN" altLang="en-US"/>
          </a:p>
        </p:txBody>
      </p:sp>
      <p:sp>
        <p:nvSpPr>
          <p:cNvPr id="12" name="Text 10"/>
          <p:cNvSpPr/>
          <p:nvPr/>
        </p:nvSpPr>
        <p:spPr>
          <a:xfrm>
            <a:off x="8067913" y="5886688"/>
            <a:ext cx="4133017" cy="274439"/>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Single-hand, single-target assumption</a:t>
            </a:r>
            <a:endParaRPr lang="en-US" sz="1700" dirty="0"/>
          </a:p>
        </p:txBody>
      </p:sp>
      <p:sp>
        <p:nvSpPr>
          <p:cNvPr id="13" name="Text 11"/>
          <p:cNvSpPr/>
          <p:nvPr/>
        </p:nvSpPr>
        <p:spPr>
          <a:xfrm>
            <a:off x="8067913" y="6296978"/>
            <a:ext cx="5313402" cy="747593"/>
          </a:xfrm>
          <a:prstGeom prst="rect">
            <a:avLst/>
          </a:prstGeom>
          <a:noFill/>
          <a:ln/>
        </p:spPr>
        <p:txBody>
          <a:bodyPr wrap="square" lIns="0" tIns="0" rIns="0" bIns="0" rtlCol="0" anchor="t"/>
          <a:lstStyle/>
          <a:p>
            <a:pPr marL="0" indent="0" algn="l">
              <a:lnSpc>
                <a:spcPts val="1950"/>
              </a:lnSpc>
              <a:buNone/>
            </a:pPr>
            <a:r>
              <a:rPr lang="en-US" sz="1350" dirty="0">
                <a:solidFill>
                  <a:srgbClr val="272525"/>
                </a:solidFill>
                <a:latin typeface="Inter" pitchFamily="34" charset="0"/>
                <a:ea typeface="Inter" pitchFamily="34" charset="-122"/>
                <a:cs typeface="Inter" pitchFamily="34" charset="-120"/>
              </a:rPr>
              <a:t>In cluttered scenes, multiple candidate targets are selected using the highest-confidence box strategy, which may not match the user's intent.</a:t>
            </a:r>
            <a:endParaRPr lang="en-US" sz="1350" dirty="0"/>
          </a:p>
        </p:txBody>
      </p:sp>
      <p:pic>
        <p:nvPicPr>
          <p:cNvPr id="15" name="图片 14">
            <a:extLst>
              <a:ext uri="{FF2B5EF4-FFF2-40B4-BE49-F238E27FC236}">
                <a16:creationId xmlns:a16="http://schemas.microsoft.com/office/drawing/2014/main" id="{99CB25CF-5F6C-746E-7A74-688E4782D242}"/>
              </a:ext>
            </a:extLst>
          </p:cNvPr>
          <p:cNvPicPr>
            <a:picLocks noChangeAspect="1"/>
          </p:cNvPicPr>
          <p:nvPr/>
        </p:nvPicPr>
        <p:blipFill>
          <a:blip r:embed="rId3"/>
          <a:stretch>
            <a:fillRect/>
          </a:stretch>
        </p:blipFill>
        <p:spPr>
          <a:xfrm>
            <a:off x="1308746" y="1929303"/>
            <a:ext cx="3991144" cy="2802002"/>
          </a:xfrm>
          <a:prstGeom prst="rect">
            <a:avLst/>
          </a:prstGeom>
        </p:spPr>
      </p:pic>
      <p:pic>
        <p:nvPicPr>
          <p:cNvPr id="17" name="图片 16">
            <a:extLst>
              <a:ext uri="{FF2B5EF4-FFF2-40B4-BE49-F238E27FC236}">
                <a16:creationId xmlns:a16="http://schemas.microsoft.com/office/drawing/2014/main" id="{448B0B2A-0231-D898-BDC8-154B40528464}"/>
              </a:ext>
            </a:extLst>
          </p:cNvPr>
          <p:cNvPicPr>
            <a:picLocks noChangeAspect="1"/>
          </p:cNvPicPr>
          <p:nvPr/>
        </p:nvPicPr>
        <p:blipFill>
          <a:blip r:embed="rId4"/>
          <a:stretch>
            <a:fillRect/>
          </a:stretch>
        </p:blipFill>
        <p:spPr>
          <a:xfrm>
            <a:off x="1311390" y="5206240"/>
            <a:ext cx="3847683" cy="26948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24920" y="1372672"/>
            <a:ext cx="5313045" cy="480774"/>
          </a:xfrm>
          <a:prstGeom prst="rect">
            <a:avLst/>
          </a:prstGeom>
          <a:noFill/>
          <a:ln/>
        </p:spPr>
        <p:txBody>
          <a:bodyPr wrap="none" lIns="0" tIns="0" rIns="0" bIns="0" rtlCol="0" anchor="t"/>
          <a:lstStyle/>
          <a:p>
            <a:pPr marL="0" indent="0" algn="l">
              <a:lnSpc>
                <a:spcPts val="3750"/>
              </a:lnSpc>
              <a:buNone/>
            </a:pPr>
            <a:r>
              <a:rPr lang="en-US" sz="3000" b="1" dirty="0">
                <a:solidFill>
                  <a:srgbClr val="000000"/>
                </a:solidFill>
                <a:latin typeface="Inter Bold" pitchFamily="34" charset="0"/>
                <a:ea typeface="Inter Bold" pitchFamily="34" charset="-122"/>
                <a:cs typeface="Inter Bold" pitchFamily="34" charset="-120"/>
              </a:rPr>
              <a:t>Conclusion and Future Work</a:t>
            </a:r>
            <a:endParaRPr lang="en-US" sz="3000" dirty="0"/>
          </a:p>
        </p:txBody>
      </p:sp>
      <p:sp>
        <p:nvSpPr>
          <p:cNvPr id="4" name="Text 1"/>
          <p:cNvSpPr/>
          <p:nvPr/>
        </p:nvSpPr>
        <p:spPr>
          <a:xfrm>
            <a:off x="6024920" y="2010013"/>
            <a:ext cx="8066961" cy="619363"/>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This system implements real-time voice-guided grasping assistance for visually impaired users, integrating three hot-swappable CV pipelines and a unified evaluation framework. Key design decisions include automatic cm/px calibration, 4-frame stability filtering, and coordinate mirroring correction.</a:t>
            </a:r>
            <a:endParaRPr lang="en-US" sz="1200" dirty="0"/>
          </a:p>
        </p:txBody>
      </p:sp>
      <p:sp>
        <p:nvSpPr>
          <p:cNvPr id="5" name="Shape 2"/>
          <p:cNvSpPr/>
          <p:nvPr/>
        </p:nvSpPr>
        <p:spPr>
          <a:xfrm>
            <a:off x="6024920" y="2746772"/>
            <a:ext cx="8066961" cy="4110038"/>
          </a:xfrm>
          <a:prstGeom prst="roundRect">
            <a:avLst>
              <a:gd name="adj" fmla="val 1572"/>
            </a:avLst>
          </a:prstGeom>
          <a:solidFill>
            <a:srgbClr val="DADBF1"/>
          </a:solidFill>
          <a:ln w="7620">
            <a:solidFill>
              <a:srgbClr val="C0C1D7"/>
            </a:solidFill>
            <a:prstDash val="solid"/>
          </a:ln>
        </p:spPr>
        <p:txBody>
          <a:bodyPr/>
          <a:lstStyle/>
          <a:p>
            <a:endParaRPr lang="zh-CN" altLang="en-US"/>
          </a:p>
        </p:txBody>
      </p:sp>
      <p:sp>
        <p:nvSpPr>
          <p:cNvPr id="6" name="Shape 3"/>
          <p:cNvSpPr/>
          <p:nvPr/>
        </p:nvSpPr>
        <p:spPr>
          <a:xfrm>
            <a:off x="6032540" y="2754392"/>
            <a:ext cx="8051721" cy="1023699"/>
          </a:xfrm>
          <a:prstGeom prst="roundRect">
            <a:avLst>
              <a:gd name="adj" fmla="val 6313"/>
            </a:avLst>
          </a:prstGeom>
          <a:solidFill>
            <a:srgbClr val="DADBF1"/>
          </a:solidFill>
          <a:ln/>
        </p:spPr>
        <p:txBody>
          <a:bodyPr/>
          <a:lstStyle/>
          <a:p>
            <a:endParaRPr lang="zh-CN" altLang="en-US"/>
          </a:p>
        </p:txBody>
      </p:sp>
      <p:sp>
        <p:nvSpPr>
          <p:cNvPr id="7" name="Text 4"/>
          <p:cNvSpPr/>
          <p:nvPr/>
        </p:nvSpPr>
        <p:spPr>
          <a:xfrm>
            <a:off x="6186368" y="2908221"/>
            <a:ext cx="2029063" cy="240506"/>
          </a:xfrm>
          <a:prstGeom prst="rect">
            <a:avLst/>
          </a:prstGeom>
          <a:noFill/>
          <a:ln/>
        </p:spPr>
        <p:txBody>
          <a:bodyPr wrap="non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Continuous Guidance</a:t>
            </a:r>
            <a:endParaRPr lang="en-US" sz="1500" dirty="0"/>
          </a:p>
        </p:txBody>
      </p:sp>
      <p:sp>
        <p:nvSpPr>
          <p:cNvPr id="8" name="Text 5"/>
          <p:cNvSpPr/>
          <p:nvPr/>
        </p:nvSpPr>
        <p:spPr>
          <a:xfrm>
            <a:off x="6186368" y="3211354"/>
            <a:ext cx="7744063" cy="412909"/>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Evolve from query-driven interaction to continuous real-time directional broadcast, supporting step-by-step motion correction.</a:t>
            </a:r>
            <a:endParaRPr lang="en-US" sz="1200" dirty="0"/>
          </a:p>
        </p:txBody>
      </p:sp>
      <p:sp>
        <p:nvSpPr>
          <p:cNvPr id="9" name="Shape 6"/>
          <p:cNvSpPr/>
          <p:nvPr/>
        </p:nvSpPr>
        <p:spPr>
          <a:xfrm>
            <a:off x="6032540" y="3778091"/>
            <a:ext cx="8051721" cy="1023699"/>
          </a:xfrm>
          <a:prstGeom prst="rect">
            <a:avLst/>
          </a:prstGeom>
          <a:solidFill>
            <a:srgbClr val="DADBF1"/>
          </a:solidFill>
          <a:ln/>
        </p:spPr>
        <p:txBody>
          <a:bodyPr/>
          <a:lstStyle/>
          <a:p>
            <a:endParaRPr lang="zh-CN" altLang="en-US"/>
          </a:p>
        </p:txBody>
      </p:sp>
      <p:sp>
        <p:nvSpPr>
          <p:cNvPr id="10" name="Shape 7"/>
          <p:cNvSpPr/>
          <p:nvPr/>
        </p:nvSpPr>
        <p:spPr>
          <a:xfrm>
            <a:off x="6032540" y="3778091"/>
            <a:ext cx="8051721" cy="22860"/>
          </a:xfrm>
          <a:prstGeom prst="roundRect">
            <a:avLst>
              <a:gd name="adj" fmla="val 282716"/>
            </a:avLst>
          </a:prstGeom>
          <a:solidFill>
            <a:srgbClr val="C0C1D7"/>
          </a:solidFill>
          <a:ln/>
        </p:spPr>
        <p:txBody>
          <a:bodyPr/>
          <a:lstStyle/>
          <a:p>
            <a:endParaRPr lang="zh-CN" altLang="en-US"/>
          </a:p>
        </p:txBody>
      </p:sp>
      <p:sp>
        <p:nvSpPr>
          <p:cNvPr id="11" name="Text 8"/>
          <p:cNvSpPr/>
          <p:nvPr/>
        </p:nvSpPr>
        <p:spPr>
          <a:xfrm>
            <a:off x="6186368" y="3931920"/>
            <a:ext cx="2491264" cy="240506"/>
          </a:xfrm>
          <a:prstGeom prst="rect">
            <a:avLst/>
          </a:prstGeom>
          <a:noFill/>
          <a:ln/>
        </p:spPr>
        <p:txBody>
          <a:bodyPr wrap="non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Depth-Adaptive Threshold</a:t>
            </a:r>
            <a:endParaRPr lang="en-US" sz="1500" dirty="0"/>
          </a:p>
        </p:txBody>
      </p:sp>
      <p:sp>
        <p:nvSpPr>
          <p:cNvPr id="12" name="Text 9"/>
          <p:cNvSpPr/>
          <p:nvPr/>
        </p:nvSpPr>
        <p:spPr>
          <a:xfrm>
            <a:off x="6186368" y="4235053"/>
            <a:ext cx="7744063" cy="412909"/>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Combine target object size information to dynamically adjust the near threshold and improve MiDaS depth accuracy.</a:t>
            </a:r>
            <a:endParaRPr lang="en-US" sz="1200" dirty="0"/>
          </a:p>
        </p:txBody>
      </p:sp>
      <p:sp>
        <p:nvSpPr>
          <p:cNvPr id="13" name="Shape 10"/>
          <p:cNvSpPr/>
          <p:nvPr/>
        </p:nvSpPr>
        <p:spPr>
          <a:xfrm>
            <a:off x="6032540" y="4801791"/>
            <a:ext cx="8051721" cy="1023699"/>
          </a:xfrm>
          <a:prstGeom prst="rect">
            <a:avLst/>
          </a:prstGeom>
          <a:solidFill>
            <a:srgbClr val="DADBF1"/>
          </a:solidFill>
          <a:ln/>
        </p:spPr>
        <p:txBody>
          <a:bodyPr/>
          <a:lstStyle/>
          <a:p>
            <a:endParaRPr lang="zh-CN" altLang="en-US"/>
          </a:p>
        </p:txBody>
      </p:sp>
      <p:sp>
        <p:nvSpPr>
          <p:cNvPr id="14" name="Shape 11"/>
          <p:cNvSpPr/>
          <p:nvPr/>
        </p:nvSpPr>
        <p:spPr>
          <a:xfrm>
            <a:off x="6032540" y="4801791"/>
            <a:ext cx="8051721" cy="22860"/>
          </a:xfrm>
          <a:prstGeom prst="roundRect">
            <a:avLst>
              <a:gd name="adj" fmla="val 282716"/>
            </a:avLst>
          </a:prstGeom>
          <a:solidFill>
            <a:srgbClr val="C0C1D7"/>
          </a:solidFill>
          <a:ln/>
        </p:spPr>
        <p:txBody>
          <a:bodyPr/>
          <a:lstStyle/>
          <a:p>
            <a:endParaRPr lang="zh-CN" altLang="en-US"/>
          </a:p>
        </p:txBody>
      </p:sp>
      <p:sp>
        <p:nvSpPr>
          <p:cNvPr id="15" name="Text 12"/>
          <p:cNvSpPr/>
          <p:nvPr/>
        </p:nvSpPr>
        <p:spPr>
          <a:xfrm>
            <a:off x="6186368" y="4955619"/>
            <a:ext cx="1923455" cy="240506"/>
          </a:xfrm>
          <a:prstGeom prst="rect">
            <a:avLst/>
          </a:prstGeom>
          <a:noFill/>
          <a:ln/>
        </p:spPr>
        <p:txBody>
          <a:bodyPr wrap="non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Robust NLU</a:t>
            </a:r>
            <a:endParaRPr lang="en-US" sz="1500" dirty="0"/>
          </a:p>
        </p:txBody>
      </p:sp>
      <p:sp>
        <p:nvSpPr>
          <p:cNvPr id="16" name="Text 13"/>
          <p:cNvSpPr/>
          <p:nvPr/>
        </p:nvSpPr>
        <p:spPr>
          <a:xfrm>
            <a:off x="6186368" y="5258753"/>
            <a:ext cx="7744063" cy="412909"/>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Replace keyword matching with a lightweight intent classifier or a small language model to support negation and novel vocabulary.</a:t>
            </a:r>
            <a:endParaRPr lang="en-US" sz="1200" dirty="0"/>
          </a:p>
        </p:txBody>
      </p:sp>
      <p:sp>
        <p:nvSpPr>
          <p:cNvPr id="17" name="Shape 14"/>
          <p:cNvSpPr/>
          <p:nvPr/>
        </p:nvSpPr>
        <p:spPr>
          <a:xfrm>
            <a:off x="6032540" y="5825490"/>
            <a:ext cx="8051721" cy="1023699"/>
          </a:xfrm>
          <a:prstGeom prst="rect">
            <a:avLst/>
          </a:prstGeom>
          <a:solidFill>
            <a:srgbClr val="DADBF1"/>
          </a:solidFill>
          <a:ln/>
        </p:spPr>
        <p:txBody>
          <a:bodyPr/>
          <a:lstStyle/>
          <a:p>
            <a:endParaRPr lang="zh-CN" altLang="en-US"/>
          </a:p>
        </p:txBody>
      </p:sp>
      <p:sp>
        <p:nvSpPr>
          <p:cNvPr id="18" name="Shape 15"/>
          <p:cNvSpPr/>
          <p:nvPr/>
        </p:nvSpPr>
        <p:spPr>
          <a:xfrm>
            <a:off x="6032540" y="5825490"/>
            <a:ext cx="8051721" cy="22860"/>
          </a:xfrm>
          <a:prstGeom prst="roundRect">
            <a:avLst>
              <a:gd name="adj" fmla="val 282716"/>
            </a:avLst>
          </a:prstGeom>
          <a:solidFill>
            <a:srgbClr val="C0C1D7"/>
          </a:solidFill>
          <a:ln/>
        </p:spPr>
        <p:txBody>
          <a:bodyPr/>
          <a:lstStyle/>
          <a:p>
            <a:endParaRPr lang="zh-CN" altLang="en-US"/>
          </a:p>
        </p:txBody>
      </p:sp>
      <p:sp>
        <p:nvSpPr>
          <p:cNvPr id="19" name="Text 16"/>
          <p:cNvSpPr/>
          <p:nvPr/>
        </p:nvSpPr>
        <p:spPr>
          <a:xfrm>
            <a:off x="6186368" y="5979319"/>
            <a:ext cx="2411135" cy="240506"/>
          </a:xfrm>
          <a:prstGeom prst="rect">
            <a:avLst/>
          </a:prstGeom>
          <a:noFill/>
          <a:ln/>
        </p:spPr>
        <p:txBody>
          <a:bodyPr wrap="none" lIns="0" tIns="0" rIns="0" bIns="0" rtlCol="0" anchor="t"/>
          <a:lstStyle/>
          <a:p>
            <a:pPr marL="0" indent="0" algn="l">
              <a:lnSpc>
                <a:spcPts val="1850"/>
              </a:lnSpc>
              <a:buNone/>
            </a:pPr>
            <a:r>
              <a:rPr lang="en-US" sz="1500" b="1" dirty="0">
                <a:solidFill>
                  <a:srgbClr val="272525"/>
                </a:solidFill>
                <a:latin typeface="Inter Bold" pitchFamily="34" charset="0"/>
                <a:ea typeface="Inter Bold" pitchFamily="34" charset="-122"/>
                <a:cs typeface="Inter Bold" pitchFamily="34" charset="-120"/>
              </a:rPr>
              <a:t>Benchmark Data Analysis</a:t>
            </a:r>
            <a:endParaRPr lang="en-US" sz="1500" dirty="0"/>
          </a:p>
        </p:txBody>
      </p:sp>
      <p:sp>
        <p:nvSpPr>
          <p:cNvPr id="20" name="Text 17"/>
          <p:cNvSpPr/>
          <p:nvPr/>
        </p:nvSpPr>
        <p:spPr>
          <a:xfrm>
            <a:off x="6186368" y="6282452"/>
            <a:ext cx="7744063" cy="412909"/>
          </a:xfrm>
          <a:prstGeom prst="rect">
            <a:avLst/>
          </a:prstGeom>
          <a:noFill/>
          <a:ln/>
        </p:spPr>
        <p:txBody>
          <a:bodyPr wrap="square" lIns="0" tIns="0" rIns="0" bIns="0" rtlCol="0" anchor="t"/>
          <a:lstStyle/>
          <a:p>
            <a:pPr marL="0" indent="0" algn="l">
              <a:lnSpc>
                <a:spcPts val="1600"/>
              </a:lnSpc>
              <a:buNone/>
            </a:pPr>
            <a:r>
              <a:rPr lang="en-US" sz="1200" dirty="0">
                <a:solidFill>
                  <a:srgbClr val="272525"/>
                </a:solidFill>
                <a:latin typeface="Inter" pitchFamily="34" charset="0"/>
                <a:ea typeface="Inter" pitchFamily="34" charset="-122"/>
                <a:cs typeface="Inter" pitchFamily="34" charset="-120"/>
              </a:rPr>
              <a:t>Complete backend quantitative comparison experiments to verify the performance trade-offs of each module in latency and accuracy.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1221</Words>
  <Application>Microsoft Office PowerPoint</Application>
  <PresentationFormat>自定义</PresentationFormat>
  <Paragraphs>120</Paragraphs>
  <Slides>10</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Inter Bold</vt:lpstr>
      <vt:lpstr>Inter</vt:lpstr>
      <vt:lpstr>Inter Light</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Gua Fu</cp:lastModifiedBy>
  <cp:revision>3</cp:revision>
  <dcterms:created xsi:type="dcterms:W3CDTF">2026-04-04T12:07:02Z</dcterms:created>
  <dcterms:modified xsi:type="dcterms:W3CDTF">2026-04-04T12:16:20Z</dcterms:modified>
</cp:coreProperties>
</file>